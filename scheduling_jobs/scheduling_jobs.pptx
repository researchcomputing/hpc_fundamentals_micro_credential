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8"/>
  </p:notesMasterIdLst>
  <p:sldIdLst>
    <p:sldId id="256" r:id="rId2"/>
    <p:sldId id="348" r:id="rId3"/>
    <p:sldId id="349" r:id="rId4"/>
    <p:sldId id="293" r:id="rId5"/>
    <p:sldId id="393" r:id="rId6"/>
    <p:sldId id="351" r:id="rId7"/>
    <p:sldId id="352" r:id="rId8"/>
    <p:sldId id="353" r:id="rId9"/>
    <p:sldId id="356" r:id="rId10"/>
    <p:sldId id="400" r:id="rId11"/>
    <p:sldId id="357" r:id="rId12"/>
    <p:sldId id="394" r:id="rId13"/>
    <p:sldId id="396" r:id="rId14"/>
    <p:sldId id="354" r:id="rId15"/>
    <p:sldId id="355" r:id="rId16"/>
    <p:sldId id="358" r:id="rId17"/>
    <p:sldId id="397" r:id="rId18"/>
    <p:sldId id="359" r:id="rId19"/>
    <p:sldId id="360" r:id="rId20"/>
    <p:sldId id="361" r:id="rId21"/>
    <p:sldId id="363" r:id="rId22"/>
    <p:sldId id="364" r:id="rId23"/>
    <p:sldId id="398" r:id="rId24"/>
    <p:sldId id="399" r:id="rId25"/>
    <p:sldId id="373" r:id="rId26"/>
    <p:sldId id="392" r:id="rId27"/>
  </p:sldIdLst>
  <p:sldSz cx="12192000" cy="6858000"/>
  <p:notesSz cx="6858000" cy="9144000"/>
  <p:embeddedFontLst>
    <p:embeddedFont>
      <p:font typeface="Arial Black" panose="020B0604020202020204" pitchFamily="34" charset="0"/>
      <p:bold r:id="rId29"/>
    </p:embeddedFont>
    <p:embeddedFont>
      <p:font typeface="Century Gothic" panose="020B0502020202020204" pitchFamily="34" charset="0"/>
      <p:regular r:id="rId30"/>
      <p:bold r:id="rId31"/>
      <p:italic r:id="rId32"/>
      <p:boldItalic r:id="rId33"/>
    </p:embeddedFont>
    <p:embeddedFont>
      <p:font typeface="Consolas" panose="020B0609020204030204" pitchFamily="49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E318D51-86EE-4300-AF37-D1893FD06897}">
  <a:tblStyle styleId="{CE318D51-86EE-4300-AF37-D1893FD068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96C31ED-FC21-479E-A100-0480358EE9B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29"/>
    <p:restoredTop sz="77123"/>
  </p:normalViewPr>
  <p:slideViewPr>
    <p:cSldViewPr snapToGrid="0">
      <p:cViewPr varScale="1">
        <p:scale>
          <a:sx n="96" d="100"/>
          <a:sy n="96" d="100"/>
        </p:scale>
        <p:origin x="1312" y="176"/>
      </p:cViewPr>
      <p:guideLst/>
    </p:cSldViewPr>
  </p:slideViewPr>
  <p:outlineViewPr>
    <p:cViewPr>
      <p:scale>
        <a:sx n="33" d="100"/>
        <a:sy n="33" d="100"/>
      </p:scale>
      <p:origin x="0" y="-20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78600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998390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5255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Helvetica Neue"/>
              <a:buNone/>
              <a:defRPr sz="6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8/12/26</a:t>
            </a:r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5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16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8/12/26</a:t>
            </a:r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831850" y="1725236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 Black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8/12/26</a:t>
            </a:r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079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079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8/12/26</a:t>
            </a: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430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430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8/12/26</a:t>
            </a:r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8/12/26</a:t>
            </a:r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8/12/26</a:t>
            </a:r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8/12/26</a:t>
            </a:r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4014436" y="-1350610"/>
            <a:ext cx="4163129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8/12/26</a:t>
            </a:r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8/12/26</a:t>
            </a:r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Helvetica Neue"/>
              <a:buNone/>
              <a:defRPr sz="50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16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2931387" y="6356349"/>
            <a:ext cx="8174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8/12/26</a:t>
            </a:r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2230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6829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1" descr="Untitled.png" title="Be Boulder."/>
          <p:cNvPicPr preferRelativeResize="0"/>
          <p:nvPr/>
        </p:nvPicPr>
        <p:blipFill rotWithShape="1">
          <a:blip r:embed="rId1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7289"/>
          <a:stretch/>
        </p:blipFill>
        <p:spPr>
          <a:xfrm>
            <a:off x="9293520" y="6188959"/>
            <a:ext cx="2517480" cy="4434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16;p1"/>
          <p:cNvCxnSpPr/>
          <p:nvPr/>
        </p:nvCxnSpPr>
        <p:spPr>
          <a:xfrm rot="10800000" flipH="1">
            <a:off x="457200" y="6081713"/>
            <a:ext cx="11277600" cy="142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" name="Google Shape;17;p1"/>
          <p:cNvPicPr preferRelativeResize="0"/>
          <p:nvPr/>
        </p:nvPicPr>
        <p:blipFill rotWithShape="1">
          <a:blip r:embed="rId1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4348" y="6188959"/>
            <a:ext cx="2210435" cy="43983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hf sldNum="0"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urc.readthedocs.io/en/latest/clusters/alpine/alpine-hardware.html#available-gres-on-alpin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urc.readthedocs.io/en/latest/clusters/alpine/alpine-hardware.html#available-qos-for-alpine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ondemand-rmacc.rc.colorado.edu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curc.readthedocs.io/en/lates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2560"/>
          <a:stretch/>
        </p:blipFill>
        <p:spPr>
          <a:xfrm>
            <a:off x="0" y="0"/>
            <a:ext cx="12208413" cy="45007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>
            <a:spLocks noGrp="1"/>
          </p:cNvSpPr>
          <p:nvPr>
            <p:ph type="ctrTitle"/>
          </p:nvPr>
        </p:nvSpPr>
        <p:spPr>
          <a:xfrm>
            <a:off x="459800" y="4960075"/>
            <a:ext cx="112899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 Black"/>
              <a:buNone/>
            </a:pPr>
            <a:r>
              <a:rPr lang="en-US" sz="5300" dirty="0"/>
              <a:t>Module 5: Scheduling Basic Jobs</a:t>
            </a:r>
            <a:endParaRPr sz="53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F6FABA-7180-E21A-9073-3663A238A86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8/12/26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12731-C520-83F2-BE89-8DEE92147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AE577A-5467-F75A-B73C-7B556A85D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1468791"/>
            <a:ext cx="7132154" cy="39204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latin typeface="Century Gothic"/>
              </a:rPr>
              <a:t>Slides &amp; Exercises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Century Gothic"/>
              </a:rPr>
              <a:t>https://github.com/ResearchComputing/hpc_fundamentals_micro_credential </a:t>
            </a:r>
          </a:p>
          <a:p>
            <a:r>
              <a:rPr lang="en-US" b="1" dirty="0">
                <a:latin typeface="Century Gothic"/>
              </a:rPr>
              <a:t>In “</a:t>
            </a:r>
            <a:r>
              <a:rPr lang="en-US" b="1" dirty="0" err="1">
                <a:latin typeface="Century Gothic"/>
              </a:rPr>
              <a:t>scheduling_jobs</a:t>
            </a:r>
            <a:r>
              <a:rPr lang="en-US" b="1" dirty="0">
                <a:latin typeface="Century Gothic"/>
              </a:rPr>
              <a:t>” directory </a:t>
            </a:r>
          </a:p>
        </p:txBody>
      </p:sp>
      <p:pic>
        <p:nvPicPr>
          <p:cNvPr id="9" name="Picture 8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59B476FC-DD0F-F1F8-A989-6B164F60E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3705" y="1809750"/>
            <a:ext cx="3326923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030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A5C00-123E-2CD0-AD48-005F02DD9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Learning 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3201F-B470-4FB6-3E2A-B4F0D1B28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94869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latin typeface="Century Gothic"/>
              </a:rPr>
              <a:t>Obtain a clear overview of job scheduling on an HPC system</a:t>
            </a:r>
          </a:p>
          <a:p>
            <a:r>
              <a:rPr lang="en-US" sz="3200" dirty="0">
                <a:latin typeface="Century Gothic"/>
              </a:rPr>
              <a:t>Learn to schedule both </a:t>
            </a:r>
            <a:r>
              <a:rPr lang="en-US" sz="3200" b="1" i="1" dirty="0">
                <a:latin typeface="Century Gothic"/>
              </a:rPr>
              <a:t>batch</a:t>
            </a:r>
            <a:r>
              <a:rPr lang="en-US" sz="3200" dirty="0">
                <a:latin typeface="Century Gothic"/>
              </a:rPr>
              <a:t> and </a:t>
            </a:r>
            <a:r>
              <a:rPr lang="en-US" sz="3200" b="1" i="1" dirty="0">
                <a:latin typeface="Century Gothic"/>
              </a:rPr>
              <a:t>interactive</a:t>
            </a:r>
            <a:r>
              <a:rPr lang="en-US" sz="3200" dirty="0">
                <a:latin typeface="Century Gothic"/>
              </a:rPr>
              <a:t> jobs on Alpine using the terminal</a:t>
            </a:r>
          </a:p>
          <a:p>
            <a:endParaRPr lang="en-US" sz="3200" dirty="0">
              <a:latin typeface="Century Gothic"/>
            </a:endParaRPr>
          </a:p>
          <a:p>
            <a:endParaRPr lang="en-US" sz="3200" dirty="0">
              <a:latin typeface="Century Gothic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12731-C520-83F2-BE89-8DEE92147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271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A5C00-123E-2CD0-AD48-005F02DD9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Session Overview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3201F-B470-4FB6-3E2A-B4F0D1B28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235"/>
            <a:ext cx="10914888" cy="46107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latin typeface="Century Gothic"/>
              </a:rPr>
              <a:t>General overview of job scheduling</a:t>
            </a:r>
          </a:p>
          <a:p>
            <a:pPr marL="114300" indent="0">
              <a:buNone/>
            </a:pPr>
            <a:endParaRPr lang="en-US" sz="800" dirty="0">
              <a:latin typeface="Century Gothic"/>
            </a:endParaRPr>
          </a:p>
          <a:p>
            <a:r>
              <a:rPr lang="en-US" sz="3200" dirty="0">
                <a:latin typeface="Century Gothic"/>
              </a:rPr>
              <a:t>Introduction to batch jobs</a:t>
            </a:r>
          </a:p>
          <a:p>
            <a:pPr lvl="1"/>
            <a:r>
              <a:rPr lang="en-US" sz="2800" dirty="0">
                <a:latin typeface="Century Gothic"/>
              </a:rPr>
              <a:t>Scheduling a batch job</a:t>
            </a:r>
          </a:p>
          <a:p>
            <a:pPr marL="571500" lvl="1" indent="0">
              <a:buNone/>
            </a:pPr>
            <a:endParaRPr lang="en-US" sz="800" dirty="0">
              <a:latin typeface="Century Gothic"/>
            </a:endParaRPr>
          </a:p>
          <a:p>
            <a:r>
              <a:rPr lang="en-US" sz="3200" dirty="0">
                <a:latin typeface="Century Gothic"/>
              </a:rPr>
              <a:t>Checking/monitoring jobs</a:t>
            </a:r>
          </a:p>
          <a:p>
            <a:pPr marL="114300" indent="0">
              <a:buNone/>
            </a:pPr>
            <a:endParaRPr lang="en-US" sz="800" dirty="0">
              <a:latin typeface="Century Gothic"/>
            </a:endParaRPr>
          </a:p>
          <a:p>
            <a:r>
              <a:rPr lang="en-US" sz="3200" dirty="0">
                <a:latin typeface="Century Gothic"/>
              </a:rPr>
              <a:t>Utilizing software in a job</a:t>
            </a:r>
          </a:p>
          <a:p>
            <a:pPr marL="114300" indent="0">
              <a:buNone/>
            </a:pPr>
            <a:endParaRPr lang="en-US" sz="800" dirty="0">
              <a:latin typeface="Century Gothic"/>
            </a:endParaRPr>
          </a:p>
          <a:p>
            <a:r>
              <a:rPr lang="en-US" sz="3200" dirty="0">
                <a:latin typeface="Century Gothic"/>
              </a:rPr>
              <a:t>Introduction to interactive jobs</a:t>
            </a:r>
          </a:p>
          <a:p>
            <a:pPr marL="0" indent="0">
              <a:buNone/>
            </a:pPr>
            <a:endParaRPr lang="en-US" sz="3200" dirty="0">
              <a:latin typeface="Century Gothic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12731-C520-83F2-BE89-8DEE92147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35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573E4-8CD6-3BA0-B49D-8BCDA4922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6059"/>
            <a:ext cx="10515600" cy="2605881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When you login to the HPC system you are on a </a:t>
            </a:r>
            <a:r>
              <a:rPr lang="en-US" sz="4000" b="1" i="1" dirty="0"/>
              <a:t>login</a:t>
            </a:r>
            <a:r>
              <a:rPr lang="en-US" sz="4000" dirty="0"/>
              <a:t> node. 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You then need to schedule a job on a </a:t>
            </a:r>
            <a:r>
              <a:rPr lang="en-US" sz="4000" b="1" i="1" dirty="0"/>
              <a:t>compute</a:t>
            </a:r>
            <a:r>
              <a:rPr lang="en-US" sz="4000" dirty="0"/>
              <a:t> node to run your workflow.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0816F-1CAA-CDE2-34F5-062B2A34E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38615B1-09AB-2064-CEFA-34C7CF35DED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5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latin typeface="Century Gothic" panose="020B0502020202020204" pitchFamily="34" charset="0"/>
              </a:rPr>
              <a:t>Reminder!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963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AFA76-34A3-8514-501F-5A33937A1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  <p:pic>
        <p:nvPicPr>
          <p:cNvPr id="6" name="Google Shape;210;p30">
            <a:extLst>
              <a:ext uri="{FF2B5EF4-FFF2-40B4-BE49-F238E27FC236}">
                <a16:creationId xmlns:a16="http://schemas.microsoft.com/office/drawing/2014/main" id="{6445D8FA-61FC-C99C-FBF0-FE41F2867EA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86902" y="2901338"/>
            <a:ext cx="1829290" cy="182929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11;p30">
            <a:extLst>
              <a:ext uri="{FF2B5EF4-FFF2-40B4-BE49-F238E27FC236}">
                <a16:creationId xmlns:a16="http://schemas.microsoft.com/office/drawing/2014/main" id="{99394F4D-1EE6-036F-21EE-7703D314D506}"/>
              </a:ext>
            </a:extLst>
          </p:cNvPr>
          <p:cNvSpPr/>
          <p:nvPr/>
        </p:nvSpPr>
        <p:spPr>
          <a:xfrm>
            <a:off x="4852509" y="3399146"/>
            <a:ext cx="1756500" cy="8337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1905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Management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service</a:t>
            </a:r>
            <a:endParaRPr/>
          </a:p>
        </p:txBody>
      </p:sp>
      <p:sp>
        <p:nvSpPr>
          <p:cNvPr id="8" name="Google Shape;212;p30">
            <a:extLst>
              <a:ext uri="{FF2B5EF4-FFF2-40B4-BE49-F238E27FC236}">
                <a16:creationId xmlns:a16="http://schemas.microsoft.com/office/drawing/2014/main" id="{1121A535-34B5-70FC-18D3-7C35BDC7F7FD}"/>
              </a:ext>
            </a:extLst>
          </p:cNvPr>
          <p:cNvSpPr/>
          <p:nvPr/>
        </p:nvSpPr>
        <p:spPr>
          <a:xfrm>
            <a:off x="8642100" y="4793545"/>
            <a:ext cx="1756500" cy="8337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1905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Storage</a:t>
            </a:r>
            <a:endParaRPr/>
          </a:p>
        </p:txBody>
      </p:sp>
      <p:sp>
        <p:nvSpPr>
          <p:cNvPr id="9" name="Google Shape;213;p30">
            <a:extLst>
              <a:ext uri="{FF2B5EF4-FFF2-40B4-BE49-F238E27FC236}">
                <a16:creationId xmlns:a16="http://schemas.microsoft.com/office/drawing/2014/main" id="{E9192770-350C-1834-ADA6-27FF9431BC37}"/>
              </a:ext>
            </a:extLst>
          </p:cNvPr>
          <p:cNvSpPr/>
          <p:nvPr/>
        </p:nvSpPr>
        <p:spPr>
          <a:xfrm>
            <a:off x="8642100" y="2067674"/>
            <a:ext cx="1756500" cy="8337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1905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Hardware</a:t>
            </a:r>
            <a:endParaRPr/>
          </a:p>
        </p:txBody>
      </p:sp>
      <p:cxnSp>
        <p:nvCxnSpPr>
          <p:cNvPr id="10" name="Google Shape;214;p30">
            <a:extLst>
              <a:ext uri="{FF2B5EF4-FFF2-40B4-BE49-F238E27FC236}">
                <a16:creationId xmlns:a16="http://schemas.microsoft.com/office/drawing/2014/main" id="{4FBD533E-B227-C864-BFBD-51A74DB26A61}"/>
              </a:ext>
            </a:extLst>
          </p:cNvPr>
          <p:cNvCxnSpPr/>
          <p:nvPr/>
        </p:nvCxnSpPr>
        <p:spPr>
          <a:xfrm>
            <a:off x="2797901" y="3649380"/>
            <a:ext cx="15873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Google Shape;215;p30">
            <a:extLst>
              <a:ext uri="{FF2B5EF4-FFF2-40B4-BE49-F238E27FC236}">
                <a16:creationId xmlns:a16="http://schemas.microsoft.com/office/drawing/2014/main" id="{296233CD-F955-1A0C-5CEB-B445832FD971}"/>
              </a:ext>
            </a:extLst>
          </p:cNvPr>
          <p:cNvCxnSpPr/>
          <p:nvPr/>
        </p:nvCxnSpPr>
        <p:spPr>
          <a:xfrm rot="10800000">
            <a:off x="2808090" y="4154841"/>
            <a:ext cx="1566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" name="Google Shape;216;p30">
            <a:extLst>
              <a:ext uri="{FF2B5EF4-FFF2-40B4-BE49-F238E27FC236}">
                <a16:creationId xmlns:a16="http://schemas.microsoft.com/office/drawing/2014/main" id="{6077A2D3-97C6-A474-1335-44F0E9D6D7B8}"/>
              </a:ext>
            </a:extLst>
          </p:cNvPr>
          <p:cNvCxnSpPr/>
          <p:nvPr/>
        </p:nvCxnSpPr>
        <p:spPr>
          <a:xfrm rot="10800000" flipH="1">
            <a:off x="6932479" y="2628383"/>
            <a:ext cx="1415400" cy="768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217;p30">
            <a:extLst>
              <a:ext uri="{FF2B5EF4-FFF2-40B4-BE49-F238E27FC236}">
                <a16:creationId xmlns:a16="http://schemas.microsoft.com/office/drawing/2014/main" id="{68236035-B36C-62C7-B511-C13D4E7B3C9D}"/>
              </a:ext>
            </a:extLst>
          </p:cNvPr>
          <p:cNvCxnSpPr/>
          <p:nvPr/>
        </p:nvCxnSpPr>
        <p:spPr>
          <a:xfrm>
            <a:off x="6902156" y="4377216"/>
            <a:ext cx="1576800" cy="636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218;p30">
            <a:extLst>
              <a:ext uri="{FF2B5EF4-FFF2-40B4-BE49-F238E27FC236}">
                <a16:creationId xmlns:a16="http://schemas.microsoft.com/office/drawing/2014/main" id="{59A6B106-2A56-C2A2-F53C-417E995DBB1E}"/>
              </a:ext>
            </a:extLst>
          </p:cNvPr>
          <p:cNvCxnSpPr/>
          <p:nvPr/>
        </p:nvCxnSpPr>
        <p:spPr>
          <a:xfrm>
            <a:off x="9459678" y="3133834"/>
            <a:ext cx="0" cy="1475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Google Shape;219;p30">
            <a:extLst>
              <a:ext uri="{FF2B5EF4-FFF2-40B4-BE49-F238E27FC236}">
                <a16:creationId xmlns:a16="http://schemas.microsoft.com/office/drawing/2014/main" id="{89B7DDBB-4EF6-7A77-CE56-33ADA66B6A76}"/>
              </a:ext>
            </a:extLst>
          </p:cNvPr>
          <p:cNvSpPr txBox="1"/>
          <p:nvPr/>
        </p:nvSpPr>
        <p:spPr>
          <a:xfrm>
            <a:off x="2825478" y="2914666"/>
            <a:ext cx="153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Schedule Job</a:t>
            </a:r>
            <a:endParaRPr dirty="0"/>
          </a:p>
        </p:txBody>
      </p:sp>
      <p:sp>
        <p:nvSpPr>
          <p:cNvPr id="16" name="Google Shape;220;p30">
            <a:extLst>
              <a:ext uri="{FF2B5EF4-FFF2-40B4-BE49-F238E27FC236}">
                <a16:creationId xmlns:a16="http://schemas.microsoft.com/office/drawing/2014/main" id="{CF9FC029-3A30-1754-FE7C-D5C3D2E8A368}"/>
              </a:ext>
            </a:extLst>
          </p:cNvPr>
          <p:cNvSpPr txBox="1"/>
          <p:nvPr/>
        </p:nvSpPr>
        <p:spPr>
          <a:xfrm>
            <a:off x="2883808" y="4430983"/>
            <a:ext cx="153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Get Results</a:t>
            </a:r>
            <a:endParaRPr/>
          </a:p>
        </p:txBody>
      </p:sp>
      <p:pic>
        <p:nvPicPr>
          <p:cNvPr id="17" name="Google Shape;221;p30">
            <a:extLst>
              <a:ext uri="{FF2B5EF4-FFF2-40B4-BE49-F238E27FC236}">
                <a16:creationId xmlns:a16="http://schemas.microsoft.com/office/drawing/2014/main" id="{FF77E565-AB0D-1FBE-64D1-3EACE687138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67956" y="5134380"/>
            <a:ext cx="636867" cy="636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222;p30">
            <a:extLst>
              <a:ext uri="{FF2B5EF4-FFF2-40B4-BE49-F238E27FC236}">
                <a16:creationId xmlns:a16="http://schemas.microsoft.com/office/drawing/2014/main" id="{A97829DE-212F-3A08-158D-2E4A53F6EEB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63470" y="5285430"/>
            <a:ext cx="636868" cy="636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23;p30">
            <a:extLst>
              <a:ext uri="{FF2B5EF4-FFF2-40B4-BE49-F238E27FC236}">
                <a16:creationId xmlns:a16="http://schemas.microsoft.com/office/drawing/2014/main" id="{37E2503D-7830-CAE1-C226-AE392600D55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88611" y="2072417"/>
            <a:ext cx="636867" cy="636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24;p30">
            <a:extLst>
              <a:ext uri="{FF2B5EF4-FFF2-40B4-BE49-F238E27FC236}">
                <a16:creationId xmlns:a16="http://schemas.microsoft.com/office/drawing/2014/main" id="{DC6630DF-1439-6FC9-371D-4713AE908C7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67673" y="1991602"/>
            <a:ext cx="636868" cy="63686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25;p30">
            <a:extLst>
              <a:ext uri="{FF2B5EF4-FFF2-40B4-BE49-F238E27FC236}">
                <a16:creationId xmlns:a16="http://schemas.microsoft.com/office/drawing/2014/main" id="{8E6FEFA0-D4B8-CC71-FDDD-F918B7C3F7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1069" y="410475"/>
            <a:ext cx="1173707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Helvetica Neue Light"/>
              <a:buNone/>
            </a:pPr>
            <a:r>
              <a:rPr lang="en-US" b="1" dirty="0">
                <a:latin typeface="Century Gothic" panose="020B0502020202020204" pitchFamily="34" charset="0"/>
                <a:ea typeface="Helvetica Neue Light"/>
                <a:sym typeface="Helvetica Neue Light"/>
              </a:rPr>
              <a:t>General Overview of Job Scheduling</a:t>
            </a:r>
            <a:endParaRPr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735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DFB63-5B5F-5499-E70F-9C2B6F797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360"/>
            <a:ext cx="10515600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Introduction to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008C1-330D-EBAE-5621-6E3EE9F31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957"/>
            <a:ext cx="10515600" cy="4698931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solidFill>
                  <a:srgbClr val="2F2B20"/>
                </a:solidFill>
              </a:rPr>
              <a:t>Because HPC clusters are shared resources with many users running their applications, we need </a:t>
            </a:r>
            <a:r>
              <a:rPr lang="en-US" dirty="0">
                <a:solidFill>
                  <a:srgbClr val="2F2B20"/>
                </a:solidFill>
              </a:rPr>
              <a:t>software </a:t>
            </a:r>
            <a:r>
              <a:rPr lang="en-US" sz="2800" dirty="0">
                <a:solidFill>
                  <a:srgbClr val="2F2B20"/>
                </a:solidFill>
              </a:rPr>
              <a:t>to manage and </a:t>
            </a:r>
            <a:r>
              <a:rPr lang="en-US" dirty="0">
                <a:solidFill>
                  <a:srgbClr val="2F2B20"/>
                </a:solidFill>
              </a:rPr>
              <a:t>allocate</a:t>
            </a:r>
            <a:r>
              <a:rPr lang="en-US" sz="2800" dirty="0">
                <a:solidFill>
                  <a:srgbClr val="2F2B20"/>
                </a:solidFill>
              </a:rPr>
              <a:t> resources on </a:t>
            </a:r>
            <a:r>
              <a:rPr lang="en-US" sz="2800" i="1" dirty="0">
                <a:solidFill>
                  <a:srgbClr val="2F2B20"/>
                </a:solidFill>
              </a:rPr>
              <a:t>compute</a:t>
            </a:r>
            <a:r>
              <a:rPr lang="en-US" sz="2800" dirty="0">
                <a:solidFill>
                  <a:srgbClr val="2F2B20"/>
                </a:solidFill>
              </a:rPr>
              <a:t> nodes. </a:t>
            </a:r>
          </a:p>
          <a:p>
            <a:pPr marL="114300" indent="0">
              <a:buNone/>
            </a:pPr>
            <a:endParaRPr lang="en-US" sz="800" dirty="0">
              <a:solidFill>
                <a:srgbClr val="2F2B20"/>
              </a:solidFill>
            </a:endParaRPr>
          </a:p>
          <a:p>
            <a:r>
              <a:rPr lang="en-US" sz="2800" b="1" dirty="0">
                <a:solidFill>
                  <a:srgbClr val="2F2B20"/>
                </a:solidFill>
              </a:rPr>
              <a:t>SLURM</a:t>
            </a:r>
            <a:endParaRPr lang="en-US" b="1" dirty="0"/>
          </a:p>
          <a:p>
            <a:pPr lvl="1"/>
            <a:r>
              <a:rPr lang="en-US" sz="2400" b="1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400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imple </a:t>
            </a:r>
            <a:r>
              <a:rPr lang="en-US" sz="2400" b="1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2400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inux </a:t>
            </a:r>
            <a:r>
              <a:rPr lang="en-US" sz="2400" b="1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2400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tility for </a:t>
            </a:r>
            <a:r>
              <a:rPr lang="en-US" sz="2400" b="1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esource </a:t>
            </a:r>
            <a:r>
              <a:rPr lang="en-US" sz="2400" b="1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400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anagement</a:t>
            </a:r>
          </a:p>
          <a:p>
            <a:pPr marL="571500" lvl="1" indent="0">
              <a:buNone/>
            </a:pPr>
            <a:endParaRPr lang="en-US" sz="800" dirty="0">
              <a:solidFill>
                <a:srgbClr val="000000"/>
              </a:solidFill>
            </a:endParaRPr>
          </a:p>
          <a:p>
            <a:r>
              <a:rPr lang="en-US" sz="2800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Through SLURM, users can obtain allotments of computing resources called </a:t>
            </a:r>
            <a:r>
              <a:rPr lang="en-US" b="1" i="1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en-US" sz="2800" b="1" i="1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obs</a:t>
            </a:r>
          </a:p>
          <a:p>
            <a:pPr marL="114300" indent="0">
              <a:buNone/>
            </a:pPr>
            <a:endParaRPr lang="en-US" sz="900" dirty="0"/>
          </a:p>
          <a:p>
            <a:r>
              <a:rPr lang="en-US" sz="2800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2 Types of jobs</a:t>
            </a:r>
            <a:endParaRPr lang="en-US" dirty="0"/>
          </a:p>
          <a:p>
            <a:pPr lvl="1"/>
            <a:r>
              <a:rPr lang="en-US" sz="2400" b="1" dirty="0">
                <a:solidFill>
                  <a:srgbClr val="2F2B20"/>
                </a:solidFill>
              </a:rPr>
              <a:t>Batch jobs</a:t>
            </a:r>
          </a:p>
          <a:p>
            <a:pPr lvl="1"/>
            <a:r>
              <a:rPr lang="en-US" sz="2400" b="1" dirty="0">
                <a:solidFill>
                  <a:srgbClr val="2F2B20"/>
                </a:solidFill>
              </a:rPr>
              <a:t>Interactive jobs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62241-68B0-B71B-D451-7DF89A8C3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</p:spTree>
    <p:extLst>
      <p:ext uri="{BB962C8B-B14F-4D97-AF65-F5344CB8AC3E}">
        <p14:creationId xmlns:p14="http://schemas.microsoft.com/office/powerpoint/2010/main" val="2502577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7751A-0D14-56FD-267F-DEE5329F0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  <p:pic>
        <p:nvPicPr>
          <p:cNvPr id="6" name="Google Shape;372;p40">
            <a:extLst>
              <a:ext uri="{FF2B5EF4-FFF2-40B4-BE49-F238E27FC236}">
                <a16:creationId xmlns:a16="http://schemas.microsoft.com/office/drawing/2014/main" id="{971A751C-53FA-C49D-7714-59357F43894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86902" y="2901338"/>
            <a:ext cx="1829290" cy="182929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40">
            <a:extLst>
              <a:ext uri="{FF2B5EF4-FFF2-40B4-BE49-F238E27FC236}">
                <a16:creationId xmlns:a16="http://schemas.microsoft.com/office/drawing/2014/main" id="{49282791-562C-DB3A-24D8-03C7445FB585}"/>
              </a:ext>
            </a:extLst>
          </p:cNvPr>
          <p:cNvSpPr/>
          <p:nvPr/>
        </p:nvSpPr>
        <p:spPr>
          <a:xfrm>
            <a:off x="4852509" y="3399146"/>
            <a:ext cx="1756500" cy="8337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1905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SLURM</a:t>
            </a:r>
            <a:endParaRPr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Google Shape;374;p40">
            <a:extLst>
              <a:ext uri="{FF2B5EF4-FFF2-40B4-BE49-F238E27FC236}">
                <a16:creationId xmlns:a16="http://schemas.microsoft.com/office/drawing/2014/main" id="{AD8D096A-F3CB-0EBD-4D41-54C596900BCB}"/>
              </a:ext>
            </a:extLst>
          </p:cNvPr>
          <p:cNvSpPr/>
          <p:nvPr/>
        </p:nvSpPr>
        <p:spPr>
          <a:xfrm>
            <a:off x="8642100" y="4793545"/>
            <a:ext cx="1756500" cy="8337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1905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Storage</a:t>
            </a:r>
            <a:endParaRPr/>
          </a:p>
        </p:txBody>
      </p:sp>
      <p:sp>
        <p:nvSpPr>
          <p:cNvPr id="9" name="Google Shape;375;p40">
            <a:extLst>
              <a:ext uri="{FF2B5EF4-FFF2-40B4-BE49-F238E27FC236}">
                <a16:creationId xmlns:a16="http://schemas.microsoft.com/office/drawing/2014/main" id="{B5DAD57E-5517-51D0-B300-2C5EC144A400}"/>
              </a:ext>
            </a:extLst>
          </p:cNvPr>
          <p:cNvSpPr/>
          <p:nvPr/>
        </p:nvSpPr>
        <p:spPr>
          <a:xfrm>
            <a:off x="8642100" y="2067674"/>
            <a:ext cx="1756500" cy="8337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1905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Hardware</a:t>
            </a:r>
            <a:endParaRPr/>
          </a:p>
        </p:txBody>
      </p:sp>
      <p:cxnSp>
        <p:nvCxnSpPr>
          <p:cNvPr id="10" name="Google Shape;376;p40">
            <a:extLst>
              <a:ext uri="{FF2B5EF4-FFF2-40B4-BE49-F238E27FC236}">
                <a16:creationId xmlns:a16="http://schemas.microsoft.com/office/drawing/2014/main" id="{61828E74-4E8F-1F2E-3C80-DBB215E1FF93}"/>
              </a:ext>
            </a:extLst>
          </p:cNvPr>
          <p:cNvCxnSpPr/>
          <p:nvPr/>
        </p:nvCxnSpPr>
        <p:spPr>
          <a:xfrm>
            <a:off x="2797901" y="3649380"/>
            <a:ext cx="15873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Google Shape;377;p40">
            <a:extLst>
              <a:ext uri="{FF2B5EF4-FFF2-40B4-BE49-F238E27FC236}">
                <a16:creationId xmlns:a16="http://schemas.microsoft.com/office/drawing/2014/main" id="{0F36EC7B-7E0B-BA59-2BE5-620618A02097}"/>
              </a:ext>
            </a:extLst>
          </p:cNvPr>
          <p:cNvCxnSpPr/>
          <p:nvPr/>
        </p:nvCxnSpPr>
        <p:spPr>
          <a:xfrm rot="10800000">
            <a:off x="2808090" y="4154841"/>
            <a:ext cx="1566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" name="Google Shape;378;p40">
            <a:extLst>
              <a:ext uri="{FF2B5EF4-FFF2-40B4-BE49-F238E27FC236}">
                <a16:creationId xmlns:a16="http://schemas.microsoft.com/office/drawing/2014/main" id="{B0EF1243-7580-DE69-3CE2-5F131B1FBD05}"/>
              </a:ext>
            </a:extLst>
          </p:cNvPr>
          <p:cNvCxnSpPr/>
          <p:nvPr/>
        </p:nvCxnSpPr>
        <p:spPr>
          <a:xfrm rot="10800000" flipH="1">
            <a:off x="6932479" y="2628383"/>
            <a:ext cx="1415400" cy="768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379;p40">
            <a:extLst>
              <a:ext uri="{FF2B5EF4-FFF2-40B4-BE49-F238E27FC236}">
                <a16:creationId xmlns:a16="http://schemas.microsoft.com/office/drawing/2014/main" id="{B549CF1B-F8FD-8CB2-B516-8C9DC4F3A5C8}"/>
              </a:ext>
            </a:extLst>
          </p:cNvPr>
          <p:cNvCxnSpPr/>
          <p:nvPr/>
        </p:nvCxnSpPr>
        <p:spPr>
          <a:xfrm>
            <a:off x="6902156" y="4377216"/>
            <a:ext cx="1576800" cy="636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380;p40">
            <a:extLst>
              <a:ext uri="{FF2B5EF4-FFF2-40B4-BE49-F238E27FC236}">
                <a16:creationId xmlns:a16="http://schemas.microsoft.com/office/drawing/2014/main" id="{01DAF949-1F9F-4E00-7A7B-B74C616989AA}"/>
              </a:ext>
            </a:extLst>
          </p:cNvPr>
          <p:cNvCxnSpPr/>
          <p:nvPr/>
        </p:nvCxnSpPr>
        <p:spPr>
          <a:xfrm>
            <a:off x="9459678" y="3133834"/>
            <a:ext cx="0" cy="1475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Google Shape;381;p40">
            <a:extLst>
              <a:ext uri="{FF2B5EF4-FFF2-40B4-BE49-F238E27FC236}">
                <a16:creationId xmlns:a16="http://schemas.microsoft.com/office/drawing/2014/main" id="{02C8C9BE-C2CE-07B0-FBB7-2B16DCCDE82B}"/>
              </a:ext>
            </a:extLst>
          </p:cNvPr>
          <p:cNvSpPr txBox="1"/>
          <p:nvPr/>
        </p:nvSpPr>
        <p:spPr>
          <a:xfrm>
            <a:off x="2825478" y="2914666"/>
            <a:ext cx="153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Schedule Job</a:t>
            </a:r>
            <a:endParaRPr dirty="0"/>
          </a:p>
        </p:txBody>
      </p:sp>
      <p:sp>
        <p:nvSpPr>
          <p:cNvPr id="16" name="Google Shape;382;p40">
            <a:extLst>
              <a:ext uri="{FF2B5EF4-FFF2-40B4-BE49-F238E27FC236}">
                <a16:creationId xmlns:a16="http://schemas.microsoft.com/office/drawing/2014/main" id="{C3F8AB25-1A4A-F3F7-5039-FAE9C9ED4772}"/>
              </a:ext>
            </a:extLst>
          </p:cNvPr>
          <p:cNvSpPr txBox="1"/>
          <p:nvPr/>
        </p:nvSpPr>
        <p:spPr>
          <a:xfrm>
            <a:off x="2883808" y="4430983"/>
            <a:ext cx="153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Get Results</a:t>
            </a:r>
            <a:endParaRPr/>
          </a:p>
        </p:txBody>
      </p:sp>
      <p:pic>
        <p:nvPicPr>
          <p:cNvPr id="17" name="Google Shape;383;p40">
            <a:extLst>
              <a:ext uri="{FF2B5EF4-FFF2-40B4-BE49-F238E27FC236}">
                <a16:creationId xmlns:a16="http://schemas.microsoft.com/office/drawing/2014/main" id="{4A5A69ED-A809-E54A-2D61-B8A1D1929C6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67956" y="5134380"/>
            <a:ext cx="636867" cy="636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385;p40">
            <a:extLst>
              <a:ext uri="{FF2B5EF4-FFF2-40B4-BE49-F238E27FC236}">
                <a16:creationId xmlns:a16="http://schemas.microsoft.com/office/drawing/2014/main" id="{8FAA00CC-D85A-4FFA-B44D-DAF87C5342E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88611" y="2072417"/>
            <a:ext cx="636867" cy="636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386;p40">
            <a:extLst>
              <a:ext uri="{FF2B5EF4-FFF2-40B4-BE49-F238E27FC236}">
                <a16:creationId xmlns:a16="http://schemas.microsoft.com/office/drawing/2014/main" id="{F748CAC6-B7CE-8CBE-872E-9381621E31A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67673" y="1991602"/>
            <a:ext cx="636868" cy="63686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387;p40">
            <a:extLst>
              <a:ext uri="{FF2B5EF4-FFF2-40B4-BE49-F238E27FC236}">
                <a16:creationId xmlns:a16="http://schemas.microsoft.com/office/drawing/2014/main" id="{A78C2E5C-8429-BC5E-E458-1BF2842103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3773" y="410475"/>
            <a:ext cx="1187355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Helvetica Neue Light"/>
              <a:buNone/>
            </a:pPr>
            <a:r>
              <a:rPr lang="en-US" b="1" dirty="0">
                <a:latin typeface="Century Gothic" panose="020B0502020202020204" pitchFamily="34" charset="0"/>
                <a:ea typeface="Helvetica Neue Light"/>
                <a:cs typeface="Helvetica Neue Light"/>
                <a:sym typeface="Helvetica Neue Light"/>
              </a:rPr>
              <a:t>General Overview of Job Scheduling</a:t>
            </a:r>
            <a:endParaRPr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387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DF2CF-5A41-6BA4-3DE6-955BB2AE6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Job directives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CBCD3-08E4-AEE4-AA11-E642FDD42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1478"/>
            <a:ext cx="10515600" cy="4066347"/>
          </a:xfrm>
        </p:spPr>
        <p:txBody>
          <a:bodyPr>
            <a:normAutofit/>
          </a:bodyPr>
          <a:lstStyle/>
          <a:p>
            <a:r>
              <a:rPr lang="en-US" dirty="0"/>
              <a:t>Directives are special flags that specify what type of HPC resources you would like to use</a:t>
            </a:r>
          </a:p>
          <a:p>
            <a:endParaRPr lang="en-US" sz="800" dirty="0"/>
          </a:p>
          <a:p>
            <a:pPr lvl="1"/>
            <a:r>
              <a:rPr lang="en-US" i="1" dirty="0"/>
              <a:t>“I want to run on 1 CPU for 1 hour”</a:t>
            </a:r>
          </a:p>
          <a:p>
            <a:pPr marL="571500" lvl="1" indent="0">
              <a:buNone/>
            </a:pPr>
            <a:endParaRPr lang="en-US" sz="1200" i="1" dirty="0"/>
          </a:p>
          <a:p>
            <a:r>
              <a:rPr lang="en-US" dirty="0"/>
              <a:t>Used for both batch and interactive jobs</a:t>
            </a:r>
          </a:p>
          <a:p>
            <a:pPr marL="114300" indent="0">
              <a:buNone/>
            </a:pPr>
            <a:endParaRPr lang="en-US" sz="1200" dirty="0"/>
          </a:p>
          <a:p>
            <a:r>
              <a:rPr lang="en-US" dirty="0"/>
              <a:t>Can be specified via the command line or in a job script</a:t>
            </a:r>
          </a:p>
          <a:p>
            <a:pPr marL="114300" indent="0">
              <a:buNone/>
            </a:pPr>
            <a:endParaRPr lang="en-US" sz="1200" dirty="0"/>
          </a:p>
          <a:p>
            <a:r>
              <a:rPr lang="en-US" dirty="0"/>
              <a:t>All directives shown are specific to SLURM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287DC-9182-A11F-CFF5-6746577A1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</p:spTree>
    <p:extLst>
      <p:ext uri="{BB962C8B-B14F-4D97-AF65-F5344CB8AC3E}">
        <p14:creationId xmlns:p14="http://schemas.microsoft.com/office/powerpoint/2010/main" val="3235702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7D8F7-D4C3-2233-F75A-71137C4DB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387E1-B4E0-6705-650F-2A045CB7D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Common directives (mandatory)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C72EC-AEDF-A11F-7544-C4CF4D75A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0D7643-4E67-1FB3-EE4E-C211C0BA55AC}"/>
              </a:ext>
            </a:extLst>
          </p:cNvPr>
          <p:cNvSpPr txBox="1"/>
          <p:nvPr/>
        </p:nvSpPr>
        <p:spPr>
          <a:xfrm>
            <a:off x="838199" y="1549523"/>
            <a:ext cx="10513776" cy="3831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40665" marR="0" lvl="0" indent="-205740" algn="l" rtl="0">
              <a:lnSpc>
                <a:spcPct val="122511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2000" b="1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Partition – A collection of compute nodes with similar characteristics</a:t>
            </a:r>
          </a:p>
          <a:p>
            <a:pPr marL="697865" lvl="1" indent="-205740">
              <a:lnSpc>
                <a:spcPct val="122511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--partition=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2000" dirty="0" err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partition_name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</a:p>
          <a:p>
            <a:pPr marL="240665" indent="-205740">
              <a:lnSpc>
                <a:spcPct val="122511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2000" b="1" dirty="0">
                <a:solidFill>
                  <a:srgbClr val="2F2B20"/>
                </a:solidFill>
              </a:rPr>
              <a:t>Quality of service (QoS) – System defined constraints for a job (more on this later!)</a:t>
            </a:r>
          </a:p>
          <a:p>
            <a:pPr marL="697865" lvl="1" indent="-205740">
              <a:lnSpc>
                <a:spcPct val="122511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2000" b="1" dirty="0">
                <a:solidFill>
                  <a:srgbClr val="2F2B20"/>
                </a:solidFill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</a:t>
            </a:r>
            <a:r>
              <a:rPr lang="en-US" sz="20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2000" dirty="0" err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</a:p>
          <a:p>
            <a:pPr marL="240665" indent="-205740">
              <a:lnSpc>
                <a:spcPct val="122511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2000" b="1" dirty="0">
                <a:solidFill>
                  <a:srgbClr val="2F2B20"/>
                </a:solidFill>
              </a:rPr>
              <a:t>Number of nodes to run on </a:t>
            </a:r>
          </a:p>
          <a:p>
            <a:pPr marL="697865" lvl="1" indent="-205740">
              <a:lnSpc>
                <a:spcPct val="122511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--nodes=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&lt;nodes&gt;</a:t>
            </a:r>
            <a:endParaRPr lang="en-US" sz="2000" b="1" dirty="0">
              <a:solidFill>
                <a:schemeClr val="dk1"/>
              </a:solidFill>
            </a:endParaRPr>
          </a:p>
          <a:p>
            <a:pPr marL="240665" indent="-205740">
              <a:lnSpc>
                <a:spcPct val="122511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2000" b="1" dirty="0">
                <a:solidFill>
                  <a:srgbClr val="2F2B20"/>
                </a:solidFill>
              </a:rPr>
              <a:t>Number of CPU cores to run on </a:t>
            </a:r>
          </a:p>
          <a:p>
            <a:pPr marL="697865" lvl="1" indent="-205740">
              <a:lnSpc>
                <a:spcPct val="122511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</a:t>
            </a:r>
            <a:r>
              <a:rPr lang="en-US" sz="20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ntasks</a:t>
            </a: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&lt;number-of-tasks&gt;</a:t>
            </a:r>
            <a:endParaRPr lang="en-US" sz="2000" b="1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40665" lvl="0" indent="-202692">
              <a:lnSpc>
                <a:spcPct val="119836"/>
              </a:lnSpc>
              <a:spcBef>
                <a:spcPts val="26"/>
              </a:spcBef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2000" b="1" dirty="0">
                <a:solidFill>
                  <a:srgbClr val="2F2B20"/>
                </a:solidFill>
              </a:rPr>
              <a:t>Wall time – How long you want to run on these resources</a:t>
            </a:r>
          </a:p>
          <a:p>
            <a:pPr marL="697865" lvl="1" indent="-202692">
              <a:lnSpc>
                <a:spcPct val="119836"/>
              </a:lnSpc>
              <a:spcBef>
                <a:spcPts val="26"/>
              </a:spcBef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--time=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&lt;wall time&gt;</a:t>
            </a:r>
            <a:endParaRPr lang="en-US" sz="2000" dirty="0">
              <a:solidFill>
                <a:srgbClr val="2F2B20"/>
              </a:solidFill>
            </a:endParaRPr>
          </a:p>
        </p:txBody>
      </p:sp>
      <p:sp>
        <p:nvSpPr>
          <p:cNvPr id="3" name="5-Point Star 2">
            <a:extLst>
              <a:ext uri="{FF2B5EF4-FFF2-40B4-BE49-F238E27FC236}">
                <a16:creationId xmlns:a16="http://schemas.microsoft.com/office/drawing/2014/main" id="{E1559F9D-C0B4-D874-2D32-275DFB755769}"/>
              </a:ext>
            </a:extLst>
          </p:cNvPr>
          <p:cNvSpPr/>
          <p:nvPr/>
        </p:nvSpPr>
        <p:spPr>
          <a:xfrm>
            <a:off x="644767" y="1645449"/>
            <a:ext cx="193431" cy="202224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5-Point Star 6">
            <a:extLst>
              <a:ext uri="{FF2B5EF4-FFF2-40B4-BE49-F238E27FC236}">
                <a16:creationId xmlns:a16="http://schemas.microsoft.com/office/drawing/2014/main" id="{EF15D7B4-DAD5-43D2-DE72-F51B8C876AD8}"/>
              </a:ext>
            </a:extLst>
          </p:cNvPr>
          <p:cNvSpPr/>
          <p:nvPr/>
        </p:nvSpPr>
        <p:spPr>
          <a:xfrm>
            <a:off x="642943" y="2438082"/>
            <a:ext cx="193431" cy="202224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5-Point Star 7">
            <a:extLst>
              <a:ext uri="{FF2B5EF4-FFF2-40B4-BE49-F238E27FC236}">
                <a16:creationId xmlns:a16="http://schemas.microsoft.com/office/drawing/2014/main" id="{50B94698-11FE-5747-89F0-FE2832A373F4}"/>
              </a:ext>
            </a:extLst>
          </p:cNvPr>
          <p:cNvSpPr/>
          <p:nvPr/>
        </p:nvSpPr>
        <p:spPr>
          <a:xfrm>
            <a:off x="644768" y="5767573"/>
            <a:ext cx="193431" cy="202224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300017-CB54-BB97-1EF9-4994ED068B6D}"/>
              </a:ext>
            </a:extLst>
          </p:cNvPr>
          <p:cNvSpPr txBox="1"/>
          <p:nvPr/>
        </p:nvSpPr>
        <p:spPr>
          <a:xfrm>
            <a:off x="893887" y="5684019"/>
            <a:ext cx="345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Must be specified for every job</a:t>
            </a:r>
          </a:p>
        </p:txBody>
      </p:sp>
      <p:sp>
        <p:nvSpPr>
          <p:cNvPr id="5" name="5-Point Star 4">
            <a:extLst>
              <a:ext uri="{FF2B5EF4-FFF2-40B4-BE49-F238E27FC236}">
                <a16:creationId xmlns:a16="http://schemas.microsoft.com/office/drawing/2014/main" id="{C784182C-690A-6789-F993-268AFA65A189}"/>
              </a:ext>
            </a:extLst>
          </p:cNvPr>
          <p:cNvSpPr/>
          <p:nvPr/>
        </p:nvSpPr>
        <p:spPr>
          <a:xfrm>
            <a:off x="642943" y="3913541"/>
            <a:ext cx="193431" cy="202224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5-Point Star 9">
            <a:extLst>
              <a:ext uri="{FF2B5EF4-FFF2-40B4-BE49-F238E27FC236}">
                <a16:creationId xmlns:a16="http://schemas.microsoft.com/office/drawing/2014/main" id="{9E9BDF67-F234-39E8-9291-145CC5208A46}"/>
              </a:ext>
            </a:extLst>
          </p:cNvPr>
          <p:cNvSpPr/>
          <p:nvPr/>
        </p:nvSpPr>
        <p:spPr>
          <a:xfrm>
            <a:off x="642943" y="3175232"/>
            <a:ext cx="193431" cy="202224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5-Point Star 10">
            <a:extLst>
              <a:ext uri="{FF2B5EF4-FFF2-40B4-BE49-F238E27FC236}">
                <a16:creationId xmlns:a16="http://schemas.microsoft.com/office/drawing/2014/main" id="{476E7722-F372-9E73-5967-EC4D34B6419B}"/>
              </a:ext>
            </a:extLst>
          </p:cNvPr>
          <p:cNvSpPr/>
          <p:nvPr/>
        </p:nvSpPr>
        <p:spPr>
          <a:xfrm>
            <a:off x="649186" y="4621722"/>
            <a:ext cx="193431" cy="202224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16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6AA09-D4F0-B74D-65AB-6F9425CF4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360"/>
            <a:ext cx="10515600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Common directives (optional)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95E5B-FEF6-75DC-3756-9F3C83337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  <p:sp>
        <p:nvSpPr>
          <p:cNvPr id="6" name="Google Shape;434;p45">
            <a:extLst>
              <a:ext uri="{FF2B5EF4-FFF2-40B4-BE49-F238E27FC236}">
                <a16:creationId xmlns:a16="http://schemas.microsoft.com/office/drawing/2014/main" id="{31E6056B-34A1-9900-1C20-8A71EB141D66}"/>
              </a:ext>
            </a:extLst>
          </p:cNvPr>
          <p:cNvSpPr txBox="1"/>
          <p:nvPr/>
        </p:nvSpPr>
        <p:spPr>
          <a:xfrm>
            <a:off x="838200" y="1787035"/>
            <a:ext cx="9429751" cy="3779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675" rIns="0" bIns="0" anchor="t" anchorCtr="0">
            <a:spAutoFit/>
          </a:bodyPr>
          <a:lstStyle/>
          <a:p>
            <a:pPr marL="240665" indent="-205740">
              <a:lnSpc>
                <a:spcPct val="122511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2000" b="1" dirty="0">
                <a:solidFill>
                  <a:srgbClr val="2F2B20"/>
                </a:solidFill>
              </a:rPr>
              <a:t>Allocation – Account to “charge to”</a:t>
            </a:r>
            <a:endParaRPr lang="en-US" sz="2000" b="1" dirty="0">
              <a:solidFill>
                <a:schemeClr val="dk1"/>
              </a:solidFill>
            </a:endParaRPr>
          </a:p>
          <a:p>
            <a:pPr marL="697865" lvl="1" indent="-205740">
              <a:lnSpc>
                <a:spcPct val="122511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--account=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2000" dirty="0" err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account_name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lang="en-US" sz="2000" b="1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40665" marR="0" lvl="0" indent="-202692" algn="l" rtl="0">
              <a:lnSpc>
                <a:spcPct val="119836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2000" b="1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Job name</a:t>
            </a:r>
          </a:p>
          <a:p>
            <a:pPr marL="697865" lvl="1" indent="-202692">
              <a:lnSpc>
                <a:spcPct val="119836"/>
              </a:lnSpc>
              <a:buClr>
                <a:srgbClr val="A9A57C"/>
              </a:buClr>
              <a:buSzPts val="1800"/>
              <a:buFont typeface="Arial"/>
              <a:buChar char="•"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--job-name=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&lt;jobname&gt;</a:t>
            </a:r>
            <a:endParaRPr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40665" marR="0" lvl="0" indent="-205740" algn="l" rtl="0">
              <a:lnSpc>
                <a:spcPct val="122511"/>
              </a:lnSpc>
              <a:spcBef>
                <a:spcPts val="0"/>
              </a:spcBef>
              <a:spcAft>
                <a:spcPts val="0"/>
              </a:spcAft>
              <a:buClr>
                <a:srgbClr val="A9A57C"/>
              </a:buClr>
              <a:buSzPts val="1800"/>
              <a:buChar char="•"/>
            </a:pPr>
            <a:r>
              <a:rPr lang="en-US" sz="2000" b="1" dirty="0">
                <a:solidFill>
                  <a:srgbClr val="2F2B20"/>
                </a:solidFill>
              </a:rPr>
              <a:t>Output – Where all output that would be written to the terminal should go</a:t>
            </a:r>
          </a:p>
          <a:p>
            <a:pPr marL="697865" lvl="1" indent="-205740">
              <a:lnSpc>
                <a:spcPct val="122511"/>
              </a:lnSpc>
              <a:buClr>
                <a:srgbClr val="A9A57C"/>
              </a:buClr>
              <a:buSzPts val="1800"/>
              <a:buFontTx/>
              <a:buChar char="•"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--output=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&lt;name&gt;</a:t>
            </a:r>
          </a:p>
          <a:p>
            <a:pPr marL="240665" indent="-205740">
              <a:lnSpc>
                <a:spcPct val="122511"/>
              </a:lnSpc>
              <a:buClr>
                <a:srgbClr val="A9A57C"/>
              </a:buClr>
              <a:buSzPts val="1800"/>
              <a:buFontTx/>
              <a:buChar char="•"/>
            </a:pPr>
            <a:r>
              <a:rPr lang="en-US" sz="2000" b="1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Send an email when events happen in the job </a:t>
            </a:r>
          </a:p>
          <a:p>
            <a:pPr marL="697865" lvl="1" indent="-205740">
              <a:lnSpc>
                <a:spcPct val="122511"/>
              </a:lnSpc>
              <a:buClr>
                <a:srgbClr val="A9A57C"/>
              </a:buClr>
              <a:buSzPts val="1800"/>
              <a:buFontTx/>
              <a:buChar char="•"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--mail-type=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2000" dirty="0" err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event_type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</a:p>
          <a:p>
            <a:pPr marL="240665" indent="-205740">
              <a:lnSpc>
                <a:spcPct val="122511"/>
              </a:lnSpc>
              <a:buClr>
                <a:srgbClr val="A9A57C"/>
              </a:buClr>
              <a:buSzPts val="1800"/>
              <a:buFontTx/>
              <a:buChar char="•"/>
            </a:pPr>
            <a:r>
              <a:rPr lang="en-US" sz="2000" b="1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Email address to send updates to</a:t>
            </a:r>
          </a:p>
          <a:p>
            <a:pPr marL="697865" lvl="1" indent="-205740">
              <a:lnSpc>
                <a:spcPct val="122511"/>
              </a:lnSpc>
              <a:buClr>
                <a:srgbClr val="A9A57C"/>
              </a:buClr>
              <a:buSzPts val="1800"/>
              <a:buFontTx/>
              <a:buChar char="•"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--mail-user=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&lt;user&gt;</a:t>
            </a:r>
          </a:p>
        </p:txBody>
      </p:sp>
    </p:spTree>
    <p:extLst>
      <p:ext uri="{BB962C8B-B14F-4D97-AF65-F5344CB8AC3E}">
        <p14:creationId xmlns:p14="http://schemas.microsoft.com/office/powerpoint/2010/main" val="1609385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BA592-0979-2D36-18CF-AE9884174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  <a:cs typeface="Helvetica Neue Light"/>
                <a:sym typeface="Helvetica Neue Light"/>
              </a:rPr>
              <a:t>Alpine Partitions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E0094-387B-D6F9-B2F3-7AC1939A9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  <p:graphicFrame>
        <p:nvGraphicFramePr>
          <p:cNvPr id="5" name="Google Shape;833;p68">
            <a:extLst>
              <a:ext uri="{FF2B5EF4-FFF2-40B4-BE49-F238E27FC236}">
                <a16:creationId xmlns:a16="http://schemas.microsoft.com/office/drawing/2014/main" id="{FA0CD4CD-4395-2C3D-2F52-4B39A100CE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7809119"/>
              </p:ext>
            </p:extLst>
          </p:nvPr>
        </p:nvGraphicFramePr>
        <p:xfrm>
          <a:off x="687247" y="1690688"/>
          <a:ext cx="10817506" cy="3570887"/>
        </p:xfrm>
        <a:graphic>
          <a:graphicData uri="http://schemas.openxmlformats.org/drawingml/2006/table">
            <a:tbl>
              <a:tblPr>
                <a:noFill/>
                <a:tableStyleId>{296C31ED-FC21-479E-A100-0480358EE9B8}</a:tableStyleId>
              </a:tblPr>
              <a:tblGrid>
                <a:gridCol w="2129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9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1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8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47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Partition</a:t>
                      </a:r>
                      <a:endParaRPr sz="1400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sz="1800" b="1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 nodes</a:t>
                      </a:r>
                      <a:endParaRPr sz="1800" b="1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/>
                        <a:t>RAM/core (GB) </a:t>
                      </a:r>
                      <a:endParaRPr sz="1800" b="1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cores/node</a:t>
                      </a:r>
                      <a:endParaRPr sz="1800" b="1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GPUs/node</a:t>
                      </a:r>
                      <a:endParaRPr sz="1800" b="1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/>
                        <a:t>acpu</a:t>
                      </a:r>
                      <a:endParaRPr sz="1400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Compute Node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 strike="noStrike" cap="none" dirty="0">
                          <a:solidFill>
                            <a:srgbClr val="FF0000"/>
                          </a:solidFill>
                        </a:rPr>
                        <a:t>420</a:t>
                      </a:r>
                      <a:endParaRPr sz="1800" b="1" u="sng" strike="noStrike" cap="none" dirty="0">
                        <a:solidFill>
                          <a:srgbClr val="FF0000"/>
                        </a:solidFill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3.75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32 to 128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800" u="none" strike="noStrike" cap="none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err="1"/>
                        <a:t>amem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High-memory Node</a:t>
                      </a:r>
                      <a:endParaRPr sz="1800" dirty="0"/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24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sng" strike="noStrike" cap="none" dirty="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sz="1800" b="1" i="0" u="sng" strike="noStrike" cap="none" dirty="0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48-128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0</a:t>
                      </a:r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37748"/>
                  </a:ext>
                </a:extLst>
              </a:tr>
              <a:tr h="34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ami100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GPU </a:t>
                      </a:r>
                      <a:r>
                        <a:rPr lang="en-US" sz="1800" dirty="0"/>
                        <a:t>Node: AMD MI100</a:t>
                      </a:r>
                      <a:endParaRPr sz="1800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8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3.75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64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b="1" u="sng" strike="noStrike" cap="none" dirty="0">
                        <a:solidFill>
                          <a:srgbClr val="FF0000"/>
                        </a:solidFill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aa100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GPU Node: Nvidia A100</a:t>
                      </a:r>
                      <a:endParaRPr sz="1800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12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3.75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64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 b="1" u="sng" strike="noStrike" cap="none" dirty="0">
                        <a:solidFill>
                          <a:srgbClr val="FF0000"/>
                        </a:solidFill>
                      </a:endParaRPr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al40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GPU Node: Nvidia L40</a:t>
                      </a:r>
                      <a:endParaRPr sz="1800" dirty="0"/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3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3.75</a:t>
                      </a:r>
                      <a:endParaRPr sz="1800" b="0" i="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64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 strike="noStrike" cap="none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6324079"/>
                  </a:ext>
                </a:extLst>
              </a:tr>
              <a:tr h="347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ah200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GPU Node: Nvidia H200</a:t>
                      </a:r>
                      <a:endParaRPr sz="1800" dirty="0"/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8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11.2</a:t>
                      </a:r>
                      <a:endParaRPr sz="1800" b="0" i="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128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 strike="noStrike" cap="none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1938303"/>
                  </a:ext>
                </a:extLst>
              </a:tr>
              <a:tr h="347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artxpro6000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GPU Node: Nvidia RTX Pro 6000</a:t>
                      </a:r>
                      <a:endParaRPr sz="1800" dirty="0"/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8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11.2</a:t>
                      </a:r>
                      <a:endParaRPr sz="1800" b="0" i="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128</a:t>
                      </a:r>
                      <a:endParaRPr sz="1800" u="none" strike="noStrike" cap="none" dirty="0"/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sng" strike="noStrike" cap="none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marL="43100" marR="43100" marT="43100" marB="43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8716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9807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454B4-7ED9-AEA2-A420-EA4A20E9C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23" y="34312"/>
            <a:ext cx="10515600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  <a:ea typeface="Helvetica Neue Light"/>
                <a:cs typeface="Helvetica Neue Light"/>
                <a:sym typeface="Helvetica Neue Light"/>
              </a:rPr>
              <a:t>Quality of Service (QoS)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B10E2-C1DD-AC1E-9158-7086D5820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314" y="1163999"/>
            <a:ext cx="10515600" cy="623858"/>
          </a:xfrm>
        </p:spPr>
        <p:txBody>
          <a:bodyPr/>
          <a:lstStyle/>
          <a:p>
            <a:pPr marL="114300" indent="0">
              <a:buNone/>
            </a:pPr>
            <a:r>
              <a:rPr lang="en-US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QoS specifies additional constraints for a job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63226-A1B1-2ACE-B626-6AE9A3A80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33DC3A-B8EA-3AA7-9399-100B38EE7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745121"/>
              </p:ext>
            </p:extLst>
          </p:nvPr>
        </p:nvGraphicFramePr>
        <p:xfrm>
          <a:off x="580314" y="1924642"/>
          <a:ext cx="11031372" cy="3322320"/>
        </p:xfrm>
        <a:graphic>
          <a:graphicData uri="http://schemas.openxmlformats.org/drawingml/2006/table">
            <a:tbl>
              <a:tblPr/>
              <a:tblGrid>
                <a:gridCol w="1838562">
                  <a:extLst>
                    <a:ext uri="{9D8B030D-6E8A-4147-A177-3AD203B41FA5}">
                      <a16:colId xmlns:a16="http://schemas.microsoft.com/office/drawing/2014/main" val="1995261340"/>
                    </a:ext>
                  </a:extLst>
                </a:gridCol>
                <a:gridCol w="1838562">
                  <a:extLst>
                    <a:ext uri="{9D8B030D-6E8A-4147-A177-3AD203B41FA5}">
                      <a16:colId xmlns:a16="http://schemas.microsoft.com/office/drawing/2014/main" val="2179353015"/>
                    </a:ext>
                  </a:extLst>
                </a:gridCol>
                <a:gridCol w="1838562">
                  <a:extLst>
                    <a:ext uri="{9D8B030D-6E8A-4147-A177-3AD203B41FA5}">
                      <a16:colId xmlns:a16="http://schemas.microsoft.com/office/drawing/2014/main" val="3783307299"/>
                    </a:ext>
                  </a:extLst>
                </a:gridCol>
                <a:gridCol w="1601660">
                  <a:extLst>
                    <a:ext uri="{9D8B030D-6E8A-4147-A177-3AD203B41FA5}">
                      <a16:colId xmlns:a16="http://schemas.microsoft.com/office/drawing/2014/main" val="2880700793"/>
                    </a:ext>
                  </a:extLst>
                </a:gridCol>
                <a:gridCol w="2075464">
                  <a:extLst>
                    <a:ext uri="{9D8B030D-6E8A-4147-A177-3AD203B41FA5}">
                      <a16:colId xmlns:a16="http://schemas.microsoft.com/office/drawing/2014/main" val="2792588746"/>
                    </a:ext>
                  </a:extLst>
                </a:gridCol>
                <a:gridCol w="1838562">
                  <a:extLst>
                    <a:ext uri="{9D8B030D-6E8A-4147-A177-3AD203B41FA5}">
                      <a16:colId xmlns:a16="http://schemas.microsoft.com/office/drawing/2014/main" val="1881560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1" i="0" dirty="0">
                          <a:effectLst/>
                          <a:latin typeface="system-ui"/>
                        </a:rPr>
                        <a:t>QOS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1" i="0">
                          <a:effectLst/>
                          <a:latin typeface="system-ui"/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1" i="0">
                          <a:effectLst/>
                          <a:latin typeface="system-ui"/>
                        </a:rPr>
                        <a:t>Max walltime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1" i="0">
                          <a:effectLst/>
                          <a:latin typeface="system-ui"/>
                        </a:rPr>
                        <a:t>Max jobs/user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1" i="0">
                          <a:effectLst/>
                          <a:latin typeface="system-ui"/>
                        </a:rPr>
                        <a:t>Max hardware/user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1" i="0" dirty="0">
                          <a:effectLst/>
                          <a:latin typeface="system-ui"/>
                        </a:rPr>
                        <a:t>Valid Partitions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1104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dirty="0" err="1">
                          <a:effectLst/>
                          <a:latin typeface="system-ui"/>
                        </a:rPr>
                        <a:t>cpu</a:t>
                      </a:r>
                      <a:r>
                        <a:rPr lang="en-US" sz="1600" b="0" i="0" dirty="0">
                          <a:effectLst/>
                          <a:latin typeface="system-ui"/>
                        </a:rPr>
                        <a:t>-normal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dirty="0">
                          <a:effectLst/>
                          <a:latin typeface="system-ui"/>
                        </a:rPr>
                        <a:t>Standard QoS for CPU jobs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1 day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128 nodes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acpu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151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cpu-long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dirty="0">
                          <a:effectLst/>
                          <a:latin typeface="system-ui"/>
                        </a:rPr>
                        <a:t>Longer CPU jobs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7 days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20 nodes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acpu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35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dirty="0">
                          <a:effectLst/>
                          <a:latin typeface="system-ui"/>
                        </a:rPr>
                        <a:t>mem-normal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dirty="0">
                          <a:effectLst/>
                          <a:latin typeface="system-ui"/>
                        </a:rPr>
                        <a:t>Standard QoS for High-memory jobs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24 hours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256 CPU cores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amem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440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dirty="0">
                          <a:effectLst/>
                          <a:latin typeface="system-ui"/>
                        </a:rPr>
                        <a:t>mem-long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dirty="0">
                          <a:effectLst/>
                          <a:latin typeface="system-ui"/>
                        </a:rPr>
                        <a:t>Longer mem jobs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7 days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185 CPU cores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amem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27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gpu-normal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dirty="0">
                          <a:effectLst/>
                          <a:latin typeface="system-ui"/>
                        </a:rPr>
                        <a:t>Standard QoS for GPU jobs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dirty="0">
                          <a:effectLst/>
                          <a:latin typeface="system-ui"/>
                        </a:rPr>
                        <a:t>24 hours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see </a:t>
                      </a:r>
                      <a:r>
                        <a:rPr lang="en-US" sz="1600" b="0" i="0">
                          <a:effectLst/>
                          <a:latin typeface="system-ui"/>
                          <a:hlinkClick r:id="rId3"/>
                        </a:rPr>
                        <a:t>Available GRES on Alpine</a:t>
                      </a:r>
                      <a:endParaRPr lang="en-US" sz="1600" b="0" i="0">
                        <a:effectLst/>
                        <a:latin typeface="system-u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aa100,ami100,al40,ah200,artxpro6000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962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>
                          <a:effectLst/>
                          <a:latin typeface="system-ui"/>
                        </a:rPr>
                        <a:t>gpu-long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dirty="0">
                          <a:effectLst/>
                          <a:latin typeface="system-ui"/>
                        </a:rPr>
                        <a:t>Longer GPU jobs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dirty="0">
                          <a:effectLst/>
                          <a:latin typeface="system-ui"/>
                        </a:rPr>
                        <a:t>7 days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dirty="0">
                          <a:effectLst/>
                          <a:latin typeface="system-ui"/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dirty="0">
                          <a:effectLst/>
                          <a:latin typeface="system-ui"/>
                        </a:rPr>
                        <a:t>see </a:t>
                      </a:r>
                      <a:r>
                        <a:rPr lang="en-US" sz="1600" b="0" i="0" dirty="0">
                          <a:effectLst/>
                          <a:latin typeface="system-ui"/>
                          <a:hlinkClick r:id="rId3"/>
                        </a:rPr>
                        <a:t>Available GRES on Alpine</a:t>
                      </a:r>
                      <a:endParaRPr lang="en-US" sz="1600" b="0" i="0" dirty="0">
                        <a:effectLst/>
                        <a:latin typeface="system-u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dirty="0">
                          <a:effectLst/>
                          <a:latin typeface="system-ui"/>
                        </a:rPr>
                        <a:t>aa100,ami100,al40,ah200,artxpro6000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355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ED54407-6269-DB9C-9CA3-65820ACB9902}"/>
              </a:ext>
            </a:extLst>
          </p:cNvPr>
          <p:cNvSpPr txBox="1"/>
          <p:nvPr/>
        </p:nvSpPr>
        <p:spPr>
          <a:xfrm>
            <a:off x="580314" y="5541716"/>
            <a:ext cx="110177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This list is not exhaustive. Information for other QoS’s (e.g., for testing), can be found in the </a:t>
            </a:r>
            <a:r>
              <a:rPr lang="en-US" sz="1600" i="1" dirty="0">
                <a:hlinkClick r:id="rId4"/>
              </a:rPr>
              <a:t>Alpine QoS documentation</a:t>
            </a:r>
            <a:r>
              <a:rPr lang="en-US" sz="16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5488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46005-17DF-C163-F359-579D84C66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  <a:ea typeface="Helvetica Neue Light"/>
                <a:cs typeface="Helvetica Neue Light"/>
                <a:sym typeface="Helvetica Neue Light"/>
              </a:rPr>
              <a:t>Batch Jobs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79D60-9D88-06D2-2DBF-7409090E2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0750"/>
            <a:ext cx="10515600" cy="330835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lang="en-US" b="1" dirty="0">
                <a:solidFill>
                  <a:srgbClr val="2F2B20"/>
                </a:solidFill>
              </a:rPr>
              <a:t>Batch Jobs</a:t>
            </a:r>
            <a:r>
              <a:rPr lang="en-US" dirty="0">
                <a:solidFill>
                  <a:srgbClr val="2F2B20"/>
                </a:solidFill>
              </a:rPr>
              <a:t> are jobs you submit to the scheduler that are run later without supervision</a:t>
            </a:r>
            <a:endParaRPr lang="en-US" dirty="0"/>
          </a:p>
          <a:p>
            <a:pPr lvl="1">
              <a:spcAft>
                <a:spcPts val="800"/>
              </a:spcAft>
            </a:pPr>
            <a:r>
              <a:rPr lang="en-US" dirty="0">
                <a:solidFill>
                  <a:srgbClr val="2F2B20"/>
                </a:solidFill>
              </a:rPr>
              <a:t>By far the most common job type on Alpine</a:t>
            </a:r>
          </a:p>
          <a:p>
            <a:pPr lvl="1">
              <a:spcAft>
                <a:spcPts val="800"/>
              </a:spcAft>
            </a:pPr>
            <a:r>
              <a:rPr lang="en-US" dirty="0">
                <a:solidFill>
                  <a:srgbClr val="2F2B20"/>
                </a:solidFill>
              </a:rPr>
              <a:t>Requires a job script</a:t>
            </a:r>
          </a:p>
          <a:p>
            <a:pPr>
              <a:spcAft>
                <a:spcPts val="800"/>
              </a:spcAft>
            </a:pPr>
            <a:r>
              <a:rPr lang="en-US" dirty="0">
                <a:solidFill>
                  <a:srgbClr val="2F2B20"/>
                </a:solidFill>
              </a:rPr>
              <a:t>A job script is simply a file that includes </a:t>
            </a:r>
            <a:r>
              <a:rPr lang="en-US" b="1" dirty="0">
                <a:solidFill>
                  <a:srgbClr val="2F2B20"/>
                </a:solidFill>
              </a:rPr>
              <a:t>SLURM directives</a:t>
            </a:r>
            <a:r>
              <a:rPr lang="en-US" dirty="0">
                <a:solidFill>
                  <a:srgbClr val="2F2B20"/>
                </a:solidFill>
              </a:rPr>
              <a:t> (resource specifics) ahead of any commands.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AE6DA-7AD3-F68A-EC5E-8267E7EB0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</p:spTree>
    <p:extLst>
      <p:ext uri="{BB962C8B-B14F-4D97-AF65-F5344CB8AC3E}">
        <p14:creationId xmlns:p14="http://schemas.microsoft.com/office/powerpoint/2010/main" val="1313456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85C88-55D5-AAC5-53EB-EE49AA2DB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  <a:ea typeface="Helvetica Neue Light"/>
                <a:cs typeface="Helvetica Neue Light"/>
                <a:sym typeface="Helvetica Neue Light"/>
              </a:rPr>
              <a:t>Anatomy of a job script 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9FF8B-CC54-C08C-8DAC-3ED04D228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  <p:sp>
        <p:nvSpPr>
          <p:cNvPr id="6" name="Google Shape;418;p43">
            <a:extLst>
              <a:ext uri="{FF2B5EF4-FFF2-40B4-BE49-F238E27FC236}">
                <a16:creationId xmlns:a16="http://schemas.microsoft.com/office/drawing/2014/main" id="{549AC956-14EB-7A28-3E05-7BC3C33B1571}"/>
              </a:ext>
            </a:extLst>
          </p:cNvPr>
          <p:cNvSpPr txBox="1"/>
          <p:nvPr/>
        </p:nvSpPr>
        <p:spPr>
          <a:xfrm>
            <a:off x="838200" y="2765827"/>
            <a:ext cx="10515600" cy="30912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675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#!/bin/bash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## Directives 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#SBATCH --&lt;option&gt;=&lt;value&gt; </a:t>
            </a:r>
            <a:endParaRPr sz="2000"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## Software</a:t>
            </a:r>
            <a:endParaRPr sz="2000"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module load &lt;software&gt;</a:t>
            </a:r>
            <a:endParaRPr sz="2000"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## User scripting</a:t>
            </a:r>
            <a:endParaRPr sz="2000"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&lt;command&gt;</a:t>
            </a:r>
            <a:endParaRPr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8DAB9D-E6A7-0BD1-C9EF-1650233020F3}"/>
              </a:ext>
            </a:extLst>
          </p:cNvPr>
          <p:cNvSpPr txBox="1"/>
          <p:nvPr/>
        </p:nvSpPr>
        <p:spPr>
          <a:xfrm>
            <a:off x="838200" y="1766592"/>
            <a:ext cx="7636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It’s just a bash script with SLURM specific directives!</a:t>
            </a:r>
          </a:p>
        </p:txBody>
      </p:sp>
    </p:spTree>
    <p:extLst>
      <p:ext uri="{BB962C8B-B14F-4D97-AF65-F5344CB8AC3E}">
        <p14:creationId xmlns:p14="http://schemas.microsoft.com/office/powerpoint/2010/main" val="1898509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8DA20-B22C-52E3-4029-3E11FF992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Directives in a job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5D11F-9AD0-4EF9-F33B-8565ACFE0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5512" y="3082924"/>
            <a:ext cx="7800975" cy="69215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--&lt;option&gt;=</a:t>
            </a:r>
            <a:r>
              <a:rPr lang="en-US" sz="36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&lt;value&gt;</a:t>
            </a:r>
            <a:endParaRPr lang="en-US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FA11A-7B9C-3F69-5703-1AE318334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</p:spTree>
    <p:extLst>
      <p:ext uri="{BB962C8B-B14F-4D97-AF65-F5344CB8AC3E}">
        <p14:creationId xmlns:p14="http://schemas.microsoft.com/office/powerpoint/2010/main" val="8316791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8CB0E-A1F5-9F88-0F48-B1581C48E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Example job script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F9B60-8B94-7379-1232-77C96052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  <p:sp>
        <p:nvSpPr>
          <p:cNvPr id="6" name="Google Shape;427;p44">
            <a:extLst>
              <a:ext uri="{FF2B5EF4-FFF2-40B4-BE49-F238E27FC236}">
                <a16:creationId xmlns:a16="http://schemas.microsoft.com/office/drawing/2014/main" id="{3C594338-B5E4-A7B3-5DB7-FF0FB0681EBC}"/>
              </a:ext>
            </a:extLst>
          </p:cNvPr>
          <p:cNvSpPr txBox="1"/>
          <p:nvPr/>
        </p:nvSpPr>
        <p:spPr>
          <a:xfrm>
            <a:off x="833871" y="1420659"/>
            <a:ext cx="10515600" cy="4629447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675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#!/bin/bash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## Directives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--nodes=1                  	# Number of requested nodes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</a:t>
            </a:r>
            <a:r>
              <a:rPr lang="en-US" sz="20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ntasks</a:t>
            </a: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=1                  	# Number of requested tasks/cores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--time=0:01:00              	# Max run time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--partition=</a:t>
            </a:r>
            <a:r>
              <a:rPr lang="en-US" sz="20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acpu</a:t>
            </a: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	       # Specify Alpine CPU node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</a:t>
            </a:r>
            <a:r>
              <a:rPr lang="en-US" sz="20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cpu</a:t>
            </a: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-normal                # Specify QoS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--output=test_%</a:t>
            </a:r>
            <a:r>
              <a:rPr lang="en-US" sz="20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j.out</a:t>
            </a: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  	 # Name standard output file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## Software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module purge                            # Purge all existing modules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## User commands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echo "This is a test scheduled by $USER" 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4052417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BD66B-C564-6FF8-F795-C4157D7B9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83" y="365125"/>
            <a:ext cx="11382233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entury Gothic" panose="020B0502020202020204" pitchFamily="34" charset="0"/>
              </a:rPr>
              <a:t>Scheduling a batch job with your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07AB8-A2B1-B61F-443C-A12B8E2C9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06527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en-US" dirty="0"/>
              <a:t>Once a job script has been constructed you must schedule it on the HPC system using the SLURM </a:t>
            </a:r>
            <a:r>
              <a:rPr lang="en-US" dirty="0" err="1">
                <a:solidFill>
                  <a:schemeClr val="accent5"/>
                </a:solidFill>
              </a:rPr>
              <a:t>sbatch</a:t>
            </a:r>
            <a:r>
              <a:rPr lang="en-US" dirty="0"/>
              <a:t> command, e.g.: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0B220-1929-E5CB-F9B4-67AC3C992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C0C9D4-7BF5-49AB-5525-DD658183B5FA}"/>
              </a:ext>
            </a:extLst>
          </p:cNvPr>
          <p:cNvSpPr txBox="1">
            <a:spLocks/>
          </p:cNvSpPr>
          <p:nvPr/>
        </p:nvSpPr>
        <p:spPr>
          <a:xfrm>
            <a:off x="1521086" y="3232152"/>
            <a:ext cx="8624888" cy="6921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sbatch</a:t>
            </a:r>
            <a:r>
              <a:rPr lang="en-US" sz="36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/path/to/</a:t>
            </a:r>
            <a:r>
              <a:rPr lang="en-US" sz="36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my_first_job.sh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2236872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0115A-840C-5AF8-2E78-FBF51039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Job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BEDD6-7036-93C6-793A-10B1A333C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1849"/>
            <a:ext cx="10515600" cy="3203575"/>
          </a:xfrm>
        </p:spPr>
        <p:txBody>
          <a:bodyPr>
            <a:normAutofit lnSpcReduction="10000"/>
          </a:bodyPr>
          <a:lstStyle/>
          <a:p>
            <a:pPr marL="228600" marR="0" lvl="0" indent="-222250" algn="l" rtl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2700"/>
              <a:buChar char="•"/>
            </a:pPr>
            <a:r>
              <a:rPr lang="en-US" sz="2700" dirty="0">
                <a:solidFill>
                  <a:schemeClr val="dk1"/>
                </a:solidFill>
              </a:rPr>
              <a:t>Once a job completes its execution, the standard output of the script will be redirected to an output file.</a:t>
            </a:r>
            <a:endParaRPr lang="en-US" sz="1300" dirty="0"/>
          </a:p>
          <a:p>
            <a:pPr marL="685800" marR="0" lvl="1" indent="-335915" algn="l" rtl="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Clr>
                <a:schemeClr val="dk1"/>
              </a:buClr>
              <a:buSzPts val="2300"/>
              <a:buChar char="•"/>
            </a:pPr>
            <a:r>
              <a:rPr lang="en-US" sz="2300" i="0" u="none" strike="noStrike" cap="none" dirty="0">
                <a:solidFill>
                  <a:schemeClr val="dk1"/>
                </a:solidFill>
              </a:rPr>
              <a:t>Great for debugging!</a:t>
            </a:r>
            <a:endParaRPr lang="en-US" sz="1300" dirty="0"/>
          </a:p>
          <a:p>
            <a:pPr marL="685800" marR="0" lvl="1" indent="-335915" algn="l" rtl="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Clr>
                <a:schemeClr val="dk1"/>
              </a:buClr>
              <a:buSzPts val="2300"/>
              <a:buChar char="•"/>
            </a:pPr>
            <a:r>
              <a:rPr lang="en-US" sz="2300" i="0" u="none" strike="noStrike" cap="none" dirty="0">
                <a:solidFill>
                  <a:schemeClr val="dk1"/>
                </a:solidFill>
              </a:rPr>
              <a:t>Could be different from output generated by your application</a:t>
            </a:r>
            <a:endParaRPr lang="en-US" sz="1300" dirty="0"/>
          </a:p>
          <a:p>
            <a:pPr marL="685800" marR="0" lvl="1" indent="-335915" algn="l" rtl="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Clr>
                <a:schemeClr val="dk1"/>
              </a:buClr>
              <a:buSzPts val="2300"/>
              <a:buChar char="•"/>
            </a:pPr>
            <a:r>
              <a:rPr lang="en-US" sz="2300" i="0" u="none" strike="noStrike" cap="none" dirty="0">
                <a:solidFill>
                  <a:schemeClr val="dk1"/>
                </a:solidFill>
              </a:rPr>
              <a:t>File is created in directory where job was run unless specified in your </a:t>
            </a:r>
            <a:br>
              <a:rPr lang="en-US" sz="2300" i="0" u="none" strike="noStrike" cap="none" dirty="0">
                <a:solidFill>
                  <a:schemeClr val="dk1"/>
                </a:solidFill>
              </a:rPr>
            </a:br>
            <a:r>
              <a:rPr lang="en-US" sz="2300" i="0" u="none" strike="noStrike" cap="none" dirty="0">
                <a:solidFill>
                  <a:srgbClr val="0070C0"/>
                </a:solidFill>
              </a:rPr>
              <a:t>--output </a:t>
            </a:r>
            <a:r>
              <a:rPr lang="en-US" sz="2300" i="0" u="none" strike="noStrike" cap="none" dirty="0">
                <a:solidFill>
                  <a:schemeClr val="dk1"/>
                </a:solidFill>
              </a:rPr>
              <a:t>directive.</a:t>
            </a:r>
            <a:endParaRPr lang="en-US" sz="1300" dirty="0"/>
          </a:p>
          <a:p>
            <a:pPr marL="685800" marR="0" lvl="1" indent="-335915" algn="l" rtl="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Clr>
                <a:schemeClr val="dk1"/>
              </a:buClr>
              <a:buSzPts val="2300"/>
              <a:buChar char="•"/>
            </a:pPr>
            <a:r>
              <a:rPr lang="en-US" sz="2300" i="0" u="none" strike="noStrike" cap="none" dirty="0">
                <a:solidFill>
                  <a:schemeClr val="dk1"/>
                </a:solidFill>
              </a:rPr>
              <a:t>If the </a:t>
            </a:r>
            <a:r>
              <a:rPr lang="en-US" sz="2300" i="0" u="none" strike="noStrike" cap="none" dirty="0">
                <a:solidFill>
                  <a:srgbClr val="000000"/>
                </a:solidFill>
              </a:rPr>
              <a:t>directive </a:t>
            </a:r>
            <a:r>
              <a:rPr lang="en-US" sz="2300" i="0" u="none" strike="noStrike" cap="none" dirty="0">
                <a:solidFill>
                  <a:srgbClr val="0070C0"/>
                </a:solidFill>
              </a:rPr>
              <a:t>--output </a:t>
            </a:r>
            <a:r>
              <a:rPr lang="en-US" sz="2300" i="0" u="none" strike="noStrike" cap="none" dirty="0">
                <a:solidFill>
                  <a:schemeClr val="dk1"/>
                </a:solidFill>
              </a:rPr>
              <a:t>is not provided, then a generic file name will be used (</a:t>
            </a:r>
            <a:r>
              <a:rPr lang="en-US" sz="2300" i="0" u="none" strike="noStrike" cap="none" dirty="0" err="1">
                <a:solidFill>
                  <a:schemeClr val="dk1"/>
                </a:solidFill>
              </a:rPr>
              <a:t>slurm_xxxxxx.out</a:t>
            </a:r>
            <a:r>
              <a:rPr lang="en-US" sz="2300" i="0" u="none" strike="noStrike" cap="none" dirty="0">
                <a:solidFill>
                  <a:schemeClr val="dk1"/>
                </a:solidFill>
              </a:rPr>
              <a:t>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55D82-6283-7363-24EF-7EDA92D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</p:spTree>
    <p:extLst>
      <p:ext uri="{BB962C8B-B14F-4D97-AF65-F5344CB8AC3E}">
        <p14:creationId xmlns:p14="http://schemas.microsoft.com/office/powerpoint/2010/main" val="3742081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75463-50BF-24AF-3C10-D30FBDDEC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  <a:ea typeface="Helvetica Neue Light"/>
                <a:cs typeface="Helvetica Neue Light"/>
                <a:sym typeface="Helvetica Neue Light"/>
              </a:rPr>
              <a:t>Checking on your jobs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8B94-2CB5-5114-94A6-256192932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04A38D-FDC4-C07B-A6A5-96D3864A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140"/>
            <a:ext cx="10515600" cy="4458886"/>
          </a:xfrm>
        </p:spPr>
        <p:txBody>
          <a:bodyPr/>
          <a:lstStyle/>
          <a:p>
            <a:r>
              <a:rPr lang="en-US" dirty="0" err="1">
                <a:solidFill>
                  <a:srgbClr val="0070C0"/>
                </a:solidFill>
              </a:rPr>
              <a:t>squeue</a:t>
            </a:r>
            <a:r>
              <a:rPr lang="en-US" dirty="0"/>
              <a:t>: Monitor status of </a:t>
            </a:r>
            <a:r>
              <a:rPr lang="en-US" b="1" dirty="0"/>
              <a:t>queued and running jobs</a:t>
            </a:r>
          </a:p>
          <a:p>
            <a:pPr lvl="1"/>
            <a:r>
              <a:rPr lang="en-US" sz="2000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By </a:t>
            </a:r>
            <a:r>
              <a:rPr lang="en-US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default,</a:t>
            </a:r>
            <a:r>
              <a:rPr lang="en-US" sz="2000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 shows all jobs in queue can specify using: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spcAft>
                <a:spcPts val="800"/>
              </a:spcAft>
            </a:pPr>
            <a:r>
              <a:rPr lang="en-US" dirty="0" err="1">
                <a:solidFill>
                  <a:srgbClr val="0070C0"/>
                </a:solidFill>
              </a:rPr>
              <a:t>sacct</a:t>
            </a:r>
            <a:r>
              <a:rPr lang="en-US" dirty="0"/>
              <a:t>: Check back on usage statistics of </a:t>
            </a:r>
            <a:r>
              <a:rPr lang="en-US" b="1" dirty="0"/>
              <a:t>previous jobs</a:t>
            </a:r>
          </a:p>
          <a:p>
            <a:pPr marL="685800" lvl="1" indent="-342265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2F2B20"/>
              </a:buClr>
              <a:buSzPts val="1800"/>
              <a:buChar char="•"/>
            </a:pPr>
            <a:r>
              <a:rPr lang="en-US" sz="2000" dirty="0">
                <a:solidFill>
                  <a:srgbClr val="2F2B20"/>
                </a:solidFill>
                <a:latin typeface="Arial"/>
                <a:ea typeface="Arial"/>
                <a:cs typeface="Arial"/>
                <a:sym typeface="Arial"/>
              </a:rPr>
              <a:t>By default, only checks all jobs from the start of the current day can specify using:</a:t>
            </a:r>
          </a:p>
          <a:p>
            <a:endParaRPr lang="en-US" b="1" dirty="0"/>
          </a:p>
        </p:txBody>
      </p:sp>
      <p:sp>
        <p:nvSpPr>
          <p:cNvPr id="10" name="Google Shape;513;p52">
            <a:extLst>
              <a:ext uri="{FF2B5EF4-FFF2-40B4-BE49-F238E27FC236}">
                <a16:creationId xmlns:a16="http://schemas.microsoft.com/office/drawing/2014/main" id="{6270ABA3-0AD8-3DB2-D330-EF60D5D9006E}"/>
              </a:ext>
            </a:extLst>
          </p:cNvPr>
          <p:cNvSpPr/>
          <p:nvPr/>
        </p:nvSpPr>
        <p:spPr>
          <a:xfrm>
            <a:off x="1620572" y="2662251"/>
            <a:ext cx="7263300" cy="7080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-US" sz="20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squeue</a:t>
            </a: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–u 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&lt;username&gt;</a:t>
            </a:r>
            <a:endParaRPr sz="20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-US" sz="20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squeue</a:t>
            </a: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–p 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&lt;partition&gt;</a:t>
            </a:r>
            <a:endParaRPr sz="20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514;p52">
            <a:extLst>
              <a:ext uri="{FF2B5EF4-FFF2-40B4-BE49-F238E27FC236}">
                <a16:creationId xmlns:a16="http://schemas.microsoft.com/office/drawing/2014/main" id="{CAE36032-1193-A772-7D31-F09CE2559DD8}"/>
              </a:ext>
            </a:extLst>
          </p:cNvPr>
          <p:cNvSpPr/>
          <p:nvPr/>
        </p:nvSpPr>
        <p:spPr>
          <a:xfrm>
            <a:off x="1620572" y="4551812"/>
            <a:ext cx="7263300" cy="10158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$ </a:t>
            </a:r>
            <a:r>
              <a:rPr lang="en-US" sz="20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sacct</a:t>
            </a: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 –u 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&lt;username&gt;</a:t>
            </a:r>
            <a:endParaRPr sz="18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$ </a:t>
            </a:r>
            <a:r>
              <a:rPr lang="en-US" sz="20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sacct</a:t>
            </a: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 --start=MM/DD/YY –u 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&lt;username&gt;</a:t>
            </a:r>
            <a:endParaRPr sz="1800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-US" sz="20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sacct</a:t>
            </a:r>
            <a:r>
              <a:rPr lang="en-US" sz="20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–j </a:t>
            </a:r>
            <a:r>
              <a:rPr lang="en-U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&lt;job-id&gt;</a:t>
            </a:r>
            <a:endParaRPr sz="20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356590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37DD6-296C-1FD8-6ACC-B5BF51F1E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  <a:ea typeface="Helvetica Neue Light"/>
                <a:cs typeface="Helvetica Neue Light"/>
                <a:sym typeface="Helvetica Neue Light"/>
              </a:rPr>
              <a:t>Using software in jobs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9274D-A5BE-B042-14F1-AFF77A07B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899" y="1825625"/>
            <a:ext cx="11039901" cy="4163129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Okay so running a job is easy, but how do I use the software in my job? </a:t>
            </a:r>
            <a:endParaRPr lang="en-US" dirty="0">
              <a:solidFill>
                <a:srgbClr val="000000"/>
              </a:solidFill>
            </a:endParaRPr>
          </a:p>
          <a:p>
            <a:pPr lvl="1">
              <a:spcAft>
                <a:spcPts val="800"/>
              </a:spcAft>
            </a:pPr>
            <a:r>
              <a:rPr lang="en-US" dirty="0"/>
              <a:t>We can utilize all the software we discussed in Module 4</a:t>
            </a:r>
          </a:p>
          <a:p>
            <a:pPr lvl="1">
              <a:spcAft>
                <a:spcPts val="800"/>
              </a:spcAft>
            </a:pPr>
            <a:r>
              <a:rPr lang="en-US" dirty="0"/>
              <a:t>Any non-graphics related commands you would normally run from the command line can simply be copied to your job script!</a:t>
            </a:r>
          </a:p>
          <a:p>
            <a:pPr lvl="1">
              <a:spcAft>
                <a:spcPts val="800"/>
              </a:spcAft>
            </a:pPr>
            <a:r>
              <a:rPr lang="en-US" dirty="0"/>
              <a:t>If you would like to use graphical applications we recommend running an interactive job in the “core desktop” app in OnDemand instead.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858BC-D7CF-3870-73CE-AE1AC015F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</p:spTree>
    <p:extLst>
      <p:ext uri="{BB962C8B-B14F-4D97-AF65-F5344CB8AC3E}">
        <p14:creationId xmlns:p14="http://schemas.microsoft.com/office/powerpoint/2010/main" val="734271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32969-88C7-364B-6EA7-10D7314E4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Software job script 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57D17-FD12-CD71-7DF9-538542006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  <p:sp>
        <p:nvSpPr>
          <p:cNvPr id="6" name="Google Shape;427;p44">
            <a:extLst>
              <a:ext uri="{FF2B5EF4-FFF2-40B4-BE49-F238E27FC236}">
                <a16:creationId xmlns:a16="http://schemas.microsoft.com/office/drawing/2014/main" id="{A0A1E280-8EE8-9C41-C1B0-AFBBC09F8709}"/>
              </a:ext>
            </a:extLst>
          </p:cNvPr>
          <p:cNvSpPr txBox="1"/>
          <p:nvPr/>
        </p:nvSpPr>
        <p:spPr>
          <a:xfrm>
            <a:off x="838200" y="1206570"/>
            <a:ext cx="10515600" cy="472178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2675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#!/bin/bash</a:t>
            </a:r>
            <a:endParaRPr sz="18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## Directives</a:t>
            </a:r>
          </a:p>
          <a:p>
            <a:pPr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--nodes=1                  	# Number of requested nodes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</a:t>
            </a:r>
            <a:r>
              <a:rPr lang="en-US" sz="18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ntasks</a:t>
            </a: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=1                  	# Number of requested tasks/cores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--time=0:01:00              	# Max run time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--partition=</a:t>
            </a:r>
            <a:r>
              <a:rPr lang="en-US" sz="18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acpu</a:t>
            </a: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	# Specify Alpine CPU node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</a:t>
            </a:r>
            <a:r>
              <a:rPr lang="en-US" sz="18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8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cpu</a:t>
            </a: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-normal             # Specify QoS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#SBATCH --output=test_%</a:t>
            </a:r>
            <a:r>
              <a:rPr lang="en-US" sz="18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j.out</a:t>
            </a: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  	 # Name standard output file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## Software</a:t>
            </a:r>
            <a:endParaRPr sz="18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module purge                            # Purge all existing modules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module load </a:t>
            </a:r>
            <a:r>
              <a:rPr lang="en-US" sz="18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miniforge</a:t>
            </a: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             # Load </a:t>
            </a:r>
            <a:r>
              <a:rPr lang="en-US" sz="18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conda</a:t>
            </a:r>
            <a:endParaRPr lang="en-US" sz="18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conda</a:t>
            </a: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activate &lt;my-</a:t>
            </a:r>
            <a:r>
              <a:rPr lang="en-US" sz="18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conda</a:t>
            </a: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-environment&gt;   # Activate CONDA environment</a:t>
            </a:r>
            <a:endParaRPr sz="18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## Run Python script</a:t>
            </a:r>
            <a:endParaRPr sz="18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python </a:t>
            </a:r>
            <a:r>
              <a:rPr lang="en-US" sz="18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my_cool_script.py</a:t>
            </a:r>
            <a:endParaRPr sz="1800" b="1" dirty="0"/>
          </a:p>
        </p:txBody>
      </p:sp>
    </p:spTree>
    <p:extLst>
      <p:ext uri="{BB962C8B-B14F-4D97-AF65-F5344CB8AC3E}">
        <p14:creationId xmlns:p14="http://schemas.microsoft.com/office/powerpoint/2010/main" val="5877782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42CE9-0675-EC06-F000-CC9AD35A2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  <a:ea typeface="Helvetica Neue Light"/>
                <a:cs typeface="Helvetica Neue Light"/>
                <a:sym typeface="Helvetica Neue Light"/>
              </a:rPr>
              <a:t>Interactive jobs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4FEDA-43EC-712B-B865-19D679DBF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41" y="1690688"/>
            <a:ext cx="12132859" cy="4351338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en-US" dirty="0"/>
              <a:t>Interactive jobs are used to gain real-time access to a compute node</a:t>
            </a:r>
          </a:p>
          <a:p>
            <a:pPr lvl="1">
              <a:spcAft>
                <a:spcPts val="800"/>
              </a:spcAft>
            </a:pPr>
            <a:r>
              <a:rPr lang="en-US" sz="2398" dirty="0">
                <a:solidFill>
                  <a:srgbClr val="2F2B20"/>
                </a:solidFill>
              </a:rPr>
              <a:t>Great for testing and debugging!</a:t>
            </a:r>
          </a:p>
          <a:p>
            <a:pPr lvl="1">
              <a:spcAft>
                <a:spcPts val="800"/>
              </a:spcAft>
            </a:pPr>
            <a:r>
              <a:rPr lang="en-US" u="sng" dirty="0"/>
              <a:t>Interactive jobs can be subject to normal wait times!</a:t>
            </a:r>
            <a:endParaRPr lang="en-US" sz="2798" dirty="0">
              <a:solidFill>
                <a:srgbClr val="2F2B20"/>
              </a:solidFill>
            </a:endParaRPr>
          </a:p>
          <a:p>
            <a:pPr>
              <a:spcAft>
                <a:spcPts val="800"/>
              </a:spcAft>
            </a:pPr>
            <a:r>
              <a:rPr lang="en-US" sz="2800" dirty="0">
                <a:solidFill>
                  <a:srgbClr val="2F2B20"/>
                </a:solidFill>
              </a:rPr>
              <a:t>You can schedule an interactive job with </a:t>
            </a:r>
            <a:r>
              <a:rPr lang="en-US" sz="28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sinteractive</a:t>
            </a:r>
            <a:endParaRPr lang="en-US" sz="2800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spcAft>
                <a:spcPts val="800"/>
              </a:spcAft>
            </a:pPr>
            <a:r>
              <a:rPr lang="en-US" sz="2798" dirty="0">
                <a:solidFill>
                  <a:srgbClr val="2F2B20"/>
                </a:solidFill>
              </a:rPr>
              <a:t>CURC also has a specialized command called </a:t>
            </a:r>
            <a:r>
              <a:rPr lang="en-US" sz="2798" dirty="0" err="1">
                <a:solidFill>
                  <a:srgbClr val="0070C0"/>
                </a:solidFill>
              </a:rPr>
              <a:t>acompile</a:t>
            </a:r>
            <a:r>
              <a:rPr lang="en-US" sz="2798" dirty="0">
                <a:solidFill>
                  <a:srgbClr val="2F2B20"/>
                </a:solidFill>
              </a:rPr>
              <a:t> that provides you with an “instant” interactive session on Alpine</a:t>
            </a:r>
          </a:p>
          <a:p>
            <a:pPr lvl="1">
              <a:spcAft>
                <a:spcPts val="800"/>
              </a:spcAft>
            </a:pPr>
            <a:r>
              <a:rPr lang="en-US" sz="2398" dirty="0">
                <a:solidFill>
                  <a:srgbClr val="2F2B20"/>
                </a:solidFill>
              </a:rPr>
              <a:t>Limit of 4 CPUs for up to 12 hours 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F104A-A754-F9DA-A6E6-C0C38AEDD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4881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0A83B-11EF-CA66-2994-83CD52980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>
                <a:latin typeface="Century Gothic" panose="020B0502020202020204" pitchFamily="34" charset="0"/>
                <a:ea typeface="Helvetica Neue Light"/>
                <a:cs typeface="Helvetica Neue Light"/>
                <a:sym typeface="Helvetica Neue Light"/>
              </a:rPr>
              <a:t>Running an interactive job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A4B3B-750F-BC61-3BAB-ECDD9C58D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4323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Here we will run a Python script using an interactive job</a:t>
            </a:r>
          </a:p>
          <a:p>
            <a:r>
              <a:rPr lang="en-US" dirty="0"/>
              <a:t>First request resources: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When the job starts you will be put on a compute node and you can execute your commands: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To quit: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7EC9B-192F-7FA8-4866-36B4FE407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  <p:sp>
        <p:nvSpPr>
          <p:cNvPr id="6" name="Google Shape;676;p69">
            <a:extLst>
              <a:ext uri="{FF2B5EF4-FFF2-40B4-BE49-F238E27FC236}">
                <a16:creationId xmlns:a16="http://schemas.microsoft.com/office/drawing/2014/main" id="{3A5FD3D4-9009-92D0-8F81-15435F50C02D}"/>
              </a:ext>
            </a:extLst>
          </p:cNvPr>
          <p:cNvSpPr/>
          <p:nvPr/>
        </p:nvSpPr>
        <p:spPr>
          <a:xfrm>
            <a:off x="1159999" y="2399786"/>
            <a:ext cx="9346076" cy="4002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-US" sz="20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sinteractive</a:t>
            </a: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--partition=</a:t>
            </a:r>
            <a:r>
              <a:rPr lang="en-US" sz="20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acompile</a:t>
            </a: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--</a:t>
            </a:r>
            <a:r>
              <a:rPr lang="en-US" sz="20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=compile --time=00:10:00 –-nodes=1 --</a:t>
            </a:r>
            <a:r>
              <a:rPr lang="en-US" sz="20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ntasks</a:t>
            </a: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=1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677;p69">
            <a:extLst>
              <a:ext uri="{FF2B5EF4-FFF2-40B4-BE49-F238E27FC236}">
                <a16:creationId xmlns:a16="http://schemas.microsoft.com/office/drawing/2014/main" id="{508607B9-0D5C-B404-BA51-BC3402A6C455}"/>
              </a:ext>
            </a:extLst>
          </p:cNvPr>
          <p:cNvSpPr/>
          <p:nvPr/>
        </p:nvSpPr>
        <p:spPr>
          <a:xfrm>
            <a:off x="1159999" y="4113878"/>
            <a:ext cx="7689900" cy="748481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$ module load </a:t>
            </a:r>
            <a:r>
              <a:rPr lang="en-US" sz="20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miniforge</a:t>
            </a: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b="1" dirty="0">
              <a:solidFill>
                <a:srgbClr val="0070C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$ python </a:t>
            </a:r>
            <a:r>
              <a:rPr lang="en-US" sz="20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my_very_cool_script.py</a:t>
            </a:r>
            <a:endParaRPr sz="20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" name="Google Shape;678;p69">
            <a:extLst>
              <a:ext uri="{FF2B5EF4-FFF2-40B4-BE49-F238E27FC236}">
                <a16:creationId xmlns:a16="http://schemas.microsoft.com/office/drawing/2014/main" id="{A82BCC9A-F85C-03B7-2975-78EF4B73C029}"/>
              </a:ext>
            </a:extLst>
          </p:cNvPr>
          <p:cNvSpPr/>
          <p:nvPr/>
        </p:nvSpPr>
        <p:spPr>
          <a:xfrm>
            <a:off x="1159999" y="5425561"/>
            <a:ext cx="7689900" cy="4002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$ exit</a:t>
            </a:r>
            <a:endParaRPr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9889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3FCA2-3D56-9CCE-3F1F-F99FA28C5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05F78-3771-4F08-898B-21255DB54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entury Gothic" panose="020B0502020202020204" pitchFamily="34" charset="0"/>
                <a:ea typeface="Helvetica Neue Light"/>
                <a:cs typeface="Helvetica Neue Light"/>
                <a:sym typeface="Helvetica Neue Light"/>
              </a:rPr>
              <a:t>Running an interactive graphical job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78834-7310-DD41-9E49-3A770B54F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4323"/>
            <a:ext cx="10515600" cy="435133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>
                <a:hlinkClick r:id="rId2"/>
              </a:rPr>
              <a:t>https://ondemand-rmacc.rc.colorado.edu</a:t>
            </a:r>
            <a:endParaRPr lang="en-US" dirty="0"/>
          </a:p>
          <a:p>
            <a:pPr marL="571500" lvl="1" indent="0">
              <a:buNone/>
            </a:pPr>
            <a:endParaRPr lang="en-US" dirty="0"/>
          </a:p>
          <a:p>
            <a:pPr marL="571500" lvl="1" indent="0">
              <a:buNone/>
            </a:pPr>
            <a:r>
              <a:rPr lang="en-US" dirty="0"/>
              <a:t>(Spawn a job with the “core desktop” application)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D8BA4-8690-BB63-7CD2-CE1B8E634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8/12/26</a:t>
            </a:r>
          </a:p>
        </p:txBody>
      </p:sp>
    </p:spTree>
    <p:extLst>
      <p:ext uri="{BB962C8B-B14F-4D97-AF65-F5344CB8AC3E}">
        <p14:creationId xmlns:p14="http://schemas.microsoft.com/office/powerpoint/2010/main" val="24661573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6D87C-0D88-17A5-8F4E-B14DBC4CC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9D0B3-D21D-1DC7-90D5-31F4A5E35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31971"/>
            <a:ext cx="10515600" cy="74499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000" dirty="0">
                <a:hlinkClick r:id="rId2"/>
              </a:rPr>
              <a:t>https://curc.readthedocs.io/en/latest/</a:t>
            </a:r>
            <a:endParaRPr lang="en-US" sz="3000" dirty="0"/>
          </a:p>
        </p:txBody>
      </p:sp>
      <p:pic>
        <p:nvPicPr>
          <p:cNvPr id="4" name="Picture 3" descr="QR code to https://curc.readthedocs.io/en/latest/">
            <a:extLst>
              <a:ext uri="{FF2B5EF4-FFF2-40B4-BE49-F238E27FC236}">
                <a16:creationId xmlns:a16="http://schemas.microsoft.com/office/drawing/2014/main" id="{BD2046A0-19B6-3069-D48E-53ED9CA7A5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22040" y="1662855"/>
            <a:ext cx="3547919" cy="353229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23B26D4-8AC8-DDD0-CF73-6063F4CD06D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8/12/26</a:t>
            </a:r>
          </a:p>
        </p:txBody>
      </p:sp>
    </p:spTree>
    <p:extLst>
      <p:ext uri="{BB962C8B-B14F-4D97-AF65-F5344CB8AC3E}">
        <p14:creationId xmlns:p14="http://schemas.microsoft.com/office/powerpoint/2010/main" val="3495315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10738</TotalTime>
  <Words>1511</Words>
  <Application>Microsoft Macintosh PowerPoint</Application>
  <PresentationFormat>Widescreen</PresentationFormat>
  <Paragraphs>307</Paragraphs>
  <Slides>26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Helvetica Neue</vt:lpstr>
      <vt:lpstr>Century Gothic</vt:lpstr>
      <vt:lpstr>Helvetica Neue Light</vt:lpstr>
      <vt:lpstr>Arial Black</vt:lpstr>
      <vt:lpstr>system-ui</vt:lpstr>
      <vt:lpstr>Arial</vt:lpstr>
      <vt:lpstr>Consolas</vt:lpstr>
      <vt:lpstr>Calibri</vt:lpstr>
      <vt:lpstr>Office Theme</vt:lpstr>
      <vt:lpstr>Module 5: Scheduling Basic Jobs</vt:lpstr>
      <vt:lpstr>PowerPoint Presentation</vt:lpstr>
      <vt:lpstr>Learning Objectives</vt:lpstr>
      <vt:lpstr>Session Overview </vt:lpstr>
      <vt:lpstr>When you login to the HPC system you are on a login node.   You then need to schedule a job on a compute node to run your workflow.</vt:lpstr>
      <vt:lpstr>General Overview of Job Scheduling</vt:lpstr>
      <vt:lpstr>Introduction to Jobs</vt:lpstr>
      <vt:lpstr>General Overview of Job Scheduling</vt:lpstr>
      <vt:lpstr>Job directives </vt:lpstr>
      <vt:lpstr>Common directives (mandatory)</vt:lpstr>
      <vt:lpstr>Common directives (optional)</vt:lpstr>
      <vt:lpstr>Alpine Partitions</vt:lpstr>
      <vt:lpstr>Quality of Service (QoS)</vt:lpstr>
      <vt:lpstr>Batch Jobs</vt:lpstr>
      <vt:lpstr>Anatomy of a job script </vt:lpstr>
      <vt:lpstr>Directives in a job script</vt:lpstr>
      <vt:lpstr>Example job script</vt:lpstr>
      <vt:lpstr>Scheduling a batch job with your script</vt:lpstr>
      <vt:lpstr>Job output</vt:lpstr>
      <vt:lpstr>Checking on your jobs</vt:lpstr>
      <vt:lpstr>Using software in jobs</vt:lpstr>
      <vt:lpstr>Software job script example</vt:lpstr>
      <vt:lpstr>Interactive jobs</vt:lpstr>
      <vt:lpstr>Running an interactive job</vt:lpstr>
      <vt:lpstr>Running an interactive graphical job</vt:lpstr>
      <vt:lpstr>Documentation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Familiar with RC</dc:title>
  <dc:creator>Trevor Alan Hall</dc:creator>
  <cp:lastModifiedBy>Andrew Monaghan</cp:lastModifiedBy>
  <cp:revision>29</cp:revision>
  <cp:lastPrinted>2026-08-12T14:30:57Z</cp:lastPrinted>
  <dcterms:modified xsi:type="dcterms:W3CDTF">2026-08-12T14:34:50Z</dcterms:modified>
</cp:coreProperties>
</file>